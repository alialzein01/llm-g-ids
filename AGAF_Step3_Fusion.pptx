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62"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11185"/>
    <p:restoredTop sz="94610"/>
  </p:normalViewPr>
  <p:slideViewPr>
    <p:cSldViewPr snapToGrid="0" snapToObjects="1">
      <p:cViewPr varScale="1">
        <p:scale>
          <a:sx n="116" d="100"/>
          <a:sy n="116" d="100"/>
        </p:scale>
        <p:origin x="200"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2B3440"/>
                </a:solidFill>
                <a:latin typeface="Calibri"/>
              </a:defRPr>
            </a:pPr>
            <a:r>
              <a:rPr lang="en-US" sz="1400" b="0" i="0" u="none" strike="noStrike">
                <a:solidFill>
                  <a:srgbClr val="2B3440"/>
                </a:solidFill>
                <a:latin typeface="Calibri"/>
              </a:rPr>
              <a:t>Same setup, different random seed</a:t>
            </a:r>
          </a:p>
        </c:rich>
      </c:tx>
      <c:overlay val="0"/>
    </c:title>
    <c:autoTitleDeleted val="0"/>
    <c:plotArea>
      <c:layout/>
      <c:barChart>
        <c:barDir val="col"/>
        <c:grouping val="clustered"/>
        <c:varyColors val="0"/>
        <c:ser>
          <c:idx val="0"/>
          <c:order val="0"/>
          <c:tx>
            <c:strRef>
              <c:f>Sheet1!$B$1</c:f>
              <c:strCache>
                <c:ptCount val="1"/>
                <c:pt idx="0">
                  <c:v>Self-attention</c:v>
                </c:pt>
              </c:strCache>
            </c:strRef>
          </c:tx>
          <c:spPr>
            <a:solidFill>
              <a:srgbClr val="C1440E"/>
            </a:solidFill>
            <a:effectLst/>
          </c:spPr>
          <c:invertIfNegative val="0"/>
          <c:dLbls>
            <c:numFmt formatCode="0.000" sourceLinked="0"/>
            <c:spPr>
              <a:noFill/>
              <a:ln>
                <a:noFill/>
              </a:ln>
              <a:effectLst/>
            </c:spPr>
            <c:txPr>
              <a:bodyPr/>
              <a:lstStyle/>
              <a:p>
                <a:pPr>
                  <a:defRPr sz="1000" b="0" i="0" u="none" strike="noStrike">
                    <a:solidFill>
                      <a:srgbClr val="2B344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seed 42</c:v>
                </c:pt>
                <c:pt idx="1">
                  <c:v>seed 7</c:v>
                </c:pt>
                <c:pt idx="2">
                  <c:v>seed 123</c:v>
                </c:pt>
              </c:strCache>
            </c:strRef>
          </c:cat>
          <c:val>
            <c:numRef>
              <c:f>Sheet1!$B$2:$B$4</c:f>
              <c:numCache>
                <c:formatCode>General</c:formatCode>
                <c:ptCount val="3"/>
                <c:pt idx="0">
                  <c:v>0.43869999999999998</c:v>
                </c:pt>
                <c:pt idx="1">
                  <c:v>0.32469999999999999</c:v>
                </c:pt>
                <c:pt idx="2">
                  <c:v>0.37640000000000001</c:v>
                </c:pt>
              </c:numCache>
            </c:numRef>
          </c:val>
          <c:extLst>
            <c:ext xmlns:c16="http://schemas.microsoft.com/office/drawing/2014/chart" uri="{C3380CC4-5D6E-409C-BE32-E72D297353CC}">
              <c16:uniqueId val="{00000000-724E-D844-A70C-3B4C078C1579}"/>
            </c:ext>
          </c:extLst>
        </c:ser>
        <c:ser>
          <c:idx val="1"/>
          <c:order val="1"/>
          <c:tx>
            <c:strRef>
              <c:f>Sheet1!$C$1</c:f>
              <c:strCache>
                <c:ptCount val="1"/>
                <c:pt idx="0">
                  <c:v>Our gate</c:v>
                </c:pt>
              </c:strCache>
            </c:strRef>
          </c:tx>
          <c:spPr>
            <a:solidFill>
              <a:srgbClr val="028090"/>
            </a:solidFill>
            <a:effectLst/>
          </c:spPr>
          <c:invertIfNegative val="0"/>
          <c:dLbls>
            <c:numFmt formatCode="0.000" sourceLinked="0"/>
            <c:spPr>
              <a:noFill/>
              <a:ln>
                <a:noFill/>
              </a:ln>
              <a:effectLst/>
            </c:spPr>
            <c:txPr>
              <a:bodyPr/>
              <a:lstStyle/>
              <a:p>
                <a:pPr>
                  <a:defRPr sz="1000" b="0" i="0" u="none" strike="noStrike">
                    <a:solidFill>
                      <a:srgbClr val="2B344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seed 42</c:v>
                </c:pt>
                <c:pt idx="1">
                  <c:v>seed 7</c:v>
                </c:pt>
                <c:pt idx="2">
                  <c:v>seed 123</c:v>
                </c:pt>
              </c:strCache>
            </c:strRef>
          </c:cat>
          <c:val>
            <c:numRef>
              <c:f>Sheet1!$C$2:$C$4</c:f>
              <c:numCache>
                <c:formatCode>General</c:formatCode>
                <c:ptCount val="3"/>
                <c:pt idx="0">
                  <c:v>0.3911</c:v>
                </c:pt>
                <c:pt idx="1">
                  <c:v>0.36449999999999999</c:v>
                </c:pt>
                <c:pt idx="2">
                  <c:v>0.33500000000000002</c:v>
                </c:pt>
              </c:numCache>
            </c:numRef>
          </c:val>
          <c:extLst>
            <c:ext xmlns:c16="http://schemas.microsoft.com/office/drawing/2014/chart" uri="{C3380CC4-5D6E-409C-BE32-E72D297353CC}">
              <c16:uniqueId val="{00000001-724E-D844-A70C-3B4C078C157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683"/>
                </a:solidFill>
                <a:latin typeface="Arial"/>
              </a:defRPr>
            </a:pPr>
            <a:endParaRPr lang="en-US"/>
          </a:p>
        </c:txPr>
        <c:crossAx val="2094734552"/>
        <c:crosses val="autoZero"/>
        <c:auto val="1"/>
        <c:lblAlgn val="ctr"/>
        <c:lblOffset val="100"/>
        <c:noMultiLvlLbl val="1"/>
      </c:catAx>
      <c:valAx>
        <c:axId val="2094734552"/>
        <c:scaling>
          <c:orientation val="minMax"/>
          <c:max val="0.5"/>
        </c:scaling>
        <c:delete val="0"/>
        <c:axPos val="l"/>
        <c:majorGridlines>
          <c:spPr>
            <a:ln w="12700" cap="flat">
              <a:solidFill>
                <a:srgbClr val="E4E9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683"/>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6B7683"/>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572308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of this deck: explain in plain language what the fusion step does, what went wrong, and why the honest conclusion is a negative result.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instructor down the diagram: same flows -&gt; graph view and text view -&gt; the gate decides how much to trust each -&gt; blend -&gt; classify. The gate is the part that is meant to be clever, and it is the part that failed.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1: the ladder is broken - AGAF sits below the GNN rung. Finding 2: the gate collapsed to a constant.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3: gate vs concatenation is a 0.002 gap. Finding 4: the DCVD-style alignment loss hurt at both lambda settings.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5: seed variance beats method variance. Finding 6: rare classes are tiny, so a couple of edges decide the score.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framing: this is a real, useful negative result and it points the next step at the structural branch.</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A33"/>
        </a:solidFill>
        <a:effectLst/>
      </p:bgPr>
    </p:bg>
    <p:spTree>
      <p:nvGrpSpPr>
        <p:cNvPr id="1" name=""/>
        <p:cNvGrpSpPr/>
        <p:nvPr/>
      </p:nvGrpSpPr>
      <p:grpSpPr>
        <a:xfrm>
          <a:off x="0" y="0"/>
          <a:ext cx="0" cy="0"/>
          <a:chOff x="0" y="0"/>
          <a:chExt cx="0" cy="0"/>
        </a:xfrm>
      </p:grpSpPr>
      <p:sp>
        <p:nvSpPr>
          <p:cNvPr id="2" name="Text 0"/>
          <p:cNvSpPr/>
          <p:nvPr/>
        </p:nvSpPr>
        <p:spPr>
          <a:xfrm>
            <a:off x="822960" y="1874520"/>
            <a:ext cx="10515600" cy="822960"/>
          </a:xfrm>
          <a:prstGeom prst="rect">
            <a:avLst/>
          </a:prstGeom>
          <a:noFill/>
          <a:ln/>
        </p:spPr>
        <p:txBody>
          <a:bodyPr wrap="square"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Step 3 — Fusion (AGAF)</a:t>
            </a:r>
            <a:endParaRPr lang="en-US" sz="4400" dirty="0"/>
          </a:p>
        </p:txBody>
      </p:sp>
      <p:sp>
        <p:nvSpPr>
          <p:cNvPr id="3" name="Text 1"/>
          <p:cNvSpPr/>
          <p:nvPr/>
        </p:nvSpPr>
        <p:spPr>
          <a:xfrm>
            <a:off x="868680" y="2743200"/>
            <a:ext cx="10515600" cy="457200"/>
          </a:xfrm>
          <a:prstGeom prst="rect">
            <a:avLst/>
          </a:prstGeom>
          <a:noFill/>
          <a:ln/>
        </p:spPr>
        <p:txBody>
          <a:bodyPr wrap="square" rtlCol="0" anchor="ctr"/>
          <a:lstStyle/>
          <a:p>
            <a:pPr marL="0" indent="0">
              <a:buNone/>
            </a:pPr>
            <a:r>
              <a:rPr lang="en-US" sz="2000" dirty="0">
                <a:solidFill>
                  <a:srgbClr val="9FD9D6"/>
                </a:solidFill>
                <a:latin typeface="Calibri" pitchFamily="34" charset="0"/>
                <a:ea typeface="Calibri" pitchFamily="34" charset="-122"/>
                <a:cs typeface="Calibri" pitchFamily="34" charset="-120"/>
              </a:rPr>
              <a:t>What we tested on the ToN-IoT graph, and what it told us</a:t>
            </a:r>
            <a:endParaRPr lang="en-US" sz="2000" dirty="0"/>
          </a:p>
        </p:txBody>
      </p:sp>
      <p:sp>
        <p:nvSpPr>
          <p:cNvPr id="4" name="Shape 2"/>
          <p:cNvSpPr/>
          <p:nvPr/>
        </p:nvSpPr>
        <p:spPr>
          <a:xfrm>
            <a:off x="822960" y="3611880"/>
            <a:ext cx="6309360" cy="868680"/>
          </a:xfrm>
          <a:prstGeom prst="roundRect">
            <a:avLst>
              <a:gd name="adj" fmla="val 10526"/>
            </a:avLst>
          </a:prstGeom>
          <a:solidFill>
            <a:srgbClr val="2C3D48"/>
          </a:solidFill>
          <a:ln w="12700">
            <a:solidFill>
              <a:srgbClr val="44575F"/>
            </a:solidFill>
            <a:prstDash val="solid"/>
          </a:ln>
        </p:spPr>
        <p:txBody>
          <a:bodyPr/>
          <a:lstStyle/>
          <a:p>
            <a:endParaRPr lang="en-US"/>
          </a:p>
        </p:txBody>
      </p:sp>
      <p:sp>
        <p:nvSpPr>
          <p:cNvPr id="5" name="Text 3"/>
          <p:cNvSpPr/>
          <p:nvPr/>
        </p:nvSpPr>
        <p:spPr>
          <a:xfrm>
            <a:off x="1051560" y="3611880"/>
            <a:ext cx="5852160" cy="868680"/>
          </a:xfrm>
          <a:prstGeom prst="rect">
            <a:avLst/>
          </a:prstGeom>
          <a:noFill/>
          <a:ln/>
        </p:spPr>
        <p:txBody>
          <a:bodyPr wrap="square" rtlCol="0" anchor="ctr"/>
          <a:lstStyle/>
          <a:p>
            <a:pPr marL="0" indent="0">
              <a:buNone/>
            </a:pPr>
            <a:r>
              <a:rPr lang="en-US" sz="1400" i="1" dirty="0">
                <a:solidFill>
                  <a:srgbClr val="E3ECEE"/>
                </a:solidFill>
                <a:latin typeface="Calibri" pitchFamily="34" charset="0"/>
                <a:ea typeface="Calibri" pitchFamily="34" charset="-122"/>
                <a:cs typeface="Calibri" pitchFamily="34" charset="-120"/>
              </a:rPr>
              <a:t>Short version: the fusion is not the problem — the data at this level of aggregation is.</a:t>
            </a:r>
            <a:endParaRPr lang="en-US" sz="1400" dirty="0"/>
          </a:p>
        </p:txBody>
      </p:sp>
      <p:sp>
        <p:nvSpPr>
          <p:cNvPr id="6" name="Text 4"/>
          <p:cNvSpPr/>
          <p:nvPr/>
        </p:nvSpPr>
        <p:spPr>
          <a:xfrm>
            <a:off x="868680" y="4846320"/>
            <a:ext cx="10515600" cy="365760"/>
          </a:xfrm>
          <a:prstGeom prst="rect">
            <a:avLst/>
          </a:prstGeom>
          <a:noFill/>
          <a:ln/>
        </p:spPr>
        <p:txBody>
          <a:bodyPr wrap="square" rtlCol="0" anchor="ctr"/>
          <a:lstStyle/>
          <a:p>
            <a:pPr marL="0" indent="0">
              <a:buNone/>
            </a:pPr>
            <a:r>
              <a:rPr lang="en-US" sz="1400" dirty="0">
                <a:solidFill>
                  <a:srgbClr val="7E959C"/>
                </a:solidFill>
                <a:latin typeface="Calibri" pitchFamily="34" charset="0"/>
                <a:ea typeface="Calibri" pitchFamily="34" charset="-122"/>
                <a:cs typeface="Calibri" pitchFamily="34" charset="-120"/>
              </a:rPr>
              <a:t>6 findings  ·  5 fusion designs  ·  3 random seeds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84048"/>
            <a:ext cx="11064240" cy="640080"/>
          </a:xfrm>
          <a:prstGeom prst="rect">
            <a:avLst/>
          </a:prstGeom>
          <a:noFill/>
          <a:ln/>
        </p:spPr>
        <p:txBody>
          <a:bodyPr wrap="square" rtlCol="0" anchor="ctr"/>
          <a:lstStyle/>
          <a:p>
            <a:pPr marL="0" indent="0">
              <a:buNone/>
            </a:pPr>
            <a:r>
              <a:rPr lang="en-US" sz="3200" b="1" dirty="0">
                <a:solidFill>
                  <a:srgbClr val="2B3440"/>
                </a:solidFill>
                <a:latin typeface="Cambria" pitchFamily="34" charset="0"/>
                <a:ea typeface="Cambria" pitchFamily="34" charset="-122"/>
                <a:cs typeface="Cambria" pitchFamily="34" charset="-120"/>
              </a:rPr>
              <a:t>How our fusion works today</a:t>
            </a:r>
            <a:endParaRPr lang="en-US" sz="3200" dirty="0"/>
          </a:p>
        </p:txBody>
      </p:sp>
      <p:sp>
        <p:nvSpPr>
          <p:cNvPr id="3" name="Text 1"/>
          <p:cNvSpPr/>
          <p:nvPr/>
        </p:nvSpPr>
        <p:spPr>
          <a:xfrm>
            <a:off x="566928" y="1024128"/>
            <a:ext cx="11064240" cy="365760"/>
          </a:xfrm>
          <a:prstGeom prst="rect">
            <a:avLst/>
          </a:prstGeom>
          <a:noFill/>
          <a:ln/>
        </p:spPr>
        <p:txBody>
          <a:bodyPr wrap="square" rtlCol="0" anchor="ctr"/>
          <a:lstStyle/>
          <a:p>
            <a:pPr marL="0" indent="0">
              <a:buNone/>
            </a:pPr>
            <a:r>
              <a:rPr lang="en-US" sz="1500" i="1" dirty="0">
                <a:solidFill>
                  <a:srgbClr val="6B7683"/>
                </a:solidFill>
                <a:latin typeface="Calibri" pitchFamily="34" charset="0"/>
                <a:ea typeface="Calibri" pitchFamily="34" charset="-122"/>
                <a:cs typeface="Calibri" pitchFamily="34" charset="-120"/>
              </a:rPr>
              <a:t>Two views of the same traffic, mixed by one learned number, then classified</a:t>
            </a:r>
            <a:endParaRPr lang="en-US" sz="1500" dirty="0"/>
          </a:p>
        </p:txBody>
      </p:sp>
      <p:pic>
        <p:nvPicPr>
          <p:cNvPr id="4" name="Image 0" descr="/home/claude/fusion_flow.png"/>
          <p:cNvPicPr>
            <a:picLocks noChangeAspect="1"/>
          </p:cNvPicPr>
          <p:nvPr/>
        </p:nvPicPr>
        <p:blipFill>
          <a:blip r:embed="rId3"/>
          <a:stretch>
            <a:fillRect/>
          </a:stretch>
        </p:blipFill>
        <p:spPr>
          <a:xfrm>
            <a:off x="502920" y="1463040"/>
            <a:ext cx="11155680" cy="493776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84048"/>
            <a:ext cx="11064240" cy="640080"/>
          </a:xfrm>
          <a:prstGeom prst="rect">
            <a:avLst/>
          </a:prstGeom>
          <a:noFill/>
          <a:ln/>
        </p:spPr>
        <p:txBody>
          <a:bodyPr wrap="square" rtlCol="0" anchor="ctr"/>
          <a:lstStyle/>
          <a:p>
            <a:pPr marL="0" indent="0">
              <a:buNone/>
            </a:pPr>
            <a:r>
              <a:rPr lang="en-US" sz="3200" b="1" dirty="0">
                <a:solidFill>
                  <a:srgbClr val="2B3440"/>
                </a:solidFill>
                <a:latin typeface="Cambria" pitchFamily="34" charset="0"/>
                <a:ea typeface="Cambria" pitchFamily="34" charset="-122"/>
                <a:cs typeface="Cambria" pitchFamily="34" charset="-120"/>
              </a:rPr>
              <a:t>Finding 1 &amp; 2 — fusion helps the rare attacks, but the switch froze</a:t>
            </a:r>
            <a:endParaRPr lang="en-US" sz="3200" dirty="0"/>
          </a:p>
        </p:txBody>
      </p:sp>
      <p:sp>
        <p:nvSpPr>
          <p:cNvPr id="3" name="Shape 1"/>
          <p:cNvSpPr/>
          <p:nvPr/>
        </p:nvSpPr>
        <p:spPr>
          <a:xfrm>
            <a:off x="548640" y="1508760"/>
            <a:ext cx="5394960" cy="2331720"/>
          </a:xfrm>
          <a:prstGeom prst="roundRect">
            <a:avLst>
              <a:gd name="adj" fmla="val 3137"/>
            </a:avLst>
          </a:prstGeom>
          <a:solidFill>
            <a:srgbClr val="FFFFFF"/>
          </a:solidFill>
          <a:ln w="12700">
            <a:solidFill>
              <a:srgbClr val="DDE3E6"/>
            </a:solidFill>
            <a:prstDash val="solid"/>
          </a:ln>
          <a:effectLst>
            <a:outerShdw blurRad="101600" dist="25400" dir="5400000" algn="bl" rotWithShape="0">
              <a:srgbClr val="B9C3C7">
                <a:alpha val="35000"/>
              </a:srgbClr>
            </a:outerShdw>
          </a:effectLst>
        </p:spPr>
        <p:txBody>
          <a:bodyPr/>
          <a:lstStyle/>
          <a:p>
            <a:endParaRPr lang="en-US"/>
          </a:p>
        </p:txBody>
      </p:sp>
      <p:sp>
        <p:nvSpPr>
          <p:cNvPr id="4" name="Shape 2"/>
          <p:cNvSpPr/>
          <p:nvPr/>
        </p:nvSpPr>
        <p:spPr>
          <a:xfrm>
            <a:off x="804672" y="1746504"/>
            <a:ext cx="457200" cy="457200"/>
          </a:xfrm>
          <a:prstGeom prst="ellipse">
            <a:avLst/>
          </a:prstGeom>
          <a:solidFill>
            <a:srgbClr val="028090"/>
          </a:solidFill>
          <a:ln w="12700">
            <a:solidFill>
              <a:srgbClr val="028090"/>
            </a:solidFill>
            <a:prstDash val="solid"/>
          </a:ln>
        </p:spPr>
        <p:txBody>
          <a:bodyPr/>
          <a:lstStyle/>
          <a:p>
            <a:endParaRPr lang="en-US"/>
          </a:p>
        </p:txBody>
      </p:sp>
      <p:sp>
        <p:nvSpPr>
          <p:cNvPr id="5" name="Text 3"/>
          <p:cNvSpPr/>
          <p:nvPr/>
        </p:nvSpPr>
        <p:spPr>
          <a:xfrm>
            <a:off x="804672" y="174650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1389888" y="1728216"/>
            <a:ext cx="4297680" cy="502920"/>
          </a:xfrm>
          <a:prstGeom prst="rect">
            <a:avLst/>
          </a:prstGeom>
          <a:noFill/>
          <a:ln/>
        </p:spPr>
        <p:txBody>
          <a:bodyPr wrap="square" lIns="0" tIns="0" rIns="0" bIns="0" rtlCol="0" anchor="ctr"/>
          <a:lstStyle/>
          <a:p>
            <a:pPr marL="0" indent="0">
              <a:buNone/>
            </a:pPr>
            <a:r>
              <a:rPr lang="en-US" sz="1700" b="1" dirty="0">
                <a:solidFill>
                  <a:srgbClr val="2B3440"/>
                </a:solidFill>
                <a:latin typeface="Calibri" pitchFamily="34" charset="0"/>
                <a:ea typeface="Calibri" pitchFamily="34" charset="-122"/>
                <a:cs typeface="Calibri" pitchFamily="34" charset="-120"/>
              </a:rPr>
              <a:t>Fusion helps where it matters</a:t>
            </a:r>
            <a:endParaRPr lang="en-US" sz="1700" dirty="0"/>
          </a:p>
        </p:txBody>
      </p:sp>
      <p:sp>
        <p:nvSpPr>
          <p:cNvPr id="7" name="Text 5"/>
          <p:cNvSpPr/>
          <p:nvPr/>
        </p:nvSpPr>
        <p:spPr>
          <a:xfrm>
            <a:off x="1389888" y="2295144"/>
            <a:ext cx="4206240" cy="13716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2B3440"/>
                </a:solidFill>
                <a:latin typeface="Calibri" pitchFamily="34" charset="0"/>
                <a:ea typeface="Calibri" pitchFamily="34" charset="-122"/>
                <a:cs typeface="Calibri" pitchFamily="34" charset="-120"/>
              </a:rPr>
              <a:t>Fusion works. It raises macro-F1 from 0.340 to 0.445.</a:t>
            </a:r>
            <a:endParaRPr lang="en-US" sz="1350" dirty="0"/>
          </a:p>
          <a:p>
            <a:pPr marL="342900" indent="-342900">
              <a:spcAft>
                <a:spcPts val="600"/>
              </a:spcAft>
              <a:buSzPct val="100000"/>
              <a:buChar char="•"/>
            </a:pPr>
            <a:r>
              <a:rPr lang="en-US" sz="1350" dirty="0">
                <a:solidFill>
                  <a:srgbClr val="2B3440"/>
                </a:solidFill>
                <a:latin typeface="Calibri" pitchFamily="34" charset="0"/>
                <a:ea typeface="Calibri" pitchFamily="34" charset="-122"/>
                <a:cs typeface="Calibri" pitchFamily="34" charset="-120"/>
              </a:rPr>
              <a:t>The gain is concentrated in the rare attacks.</a:t>
            </a:r>
            <a:endParaRPr lang="en-US" sz="1350" dirty="0"/>
          </a:p>
          <a:p>
            <a:pPr marL="342900" indent="-342900">
              <a:spcAft>
                <a:spcPts val="600"/>
              </a:spcAft>
              <a:buSzPct val="100000"/>
              <a:buChar char="•"/>
            </a:pPr>
            <a:r>
              <a:rPr lang="en-US" sz="1350" dirty="0">
                <a:solidFill>
                  <a:srgbClr val="2B3440"/>
                </a:solidFill>
                <a:latin typeface="Calibri" pitchFamily="34" charset="0"/>
                <a:ea typeface="Calibri" pitchFamily="34" charset="-122"/>
                <a:cs typeface="Calibri" pitchFamily="34" charset="-120"/>
              </a:rPr>
              <a:t>scanning 0.12 → 0.39, xss 0.06 → 0.22, password 0.09 → 0.33.</a:t>
            </a:r>
            <a:endParaRPr lang="en-US" sz="1350" dirty="0"/>
          </a:p>
        </p:txBody>
      </p:sp>
      <p:sp>
        <p:nvSpPr>
          <p:cNvPr id="8" name="Shape 6"/>
          <p:cNvSpPr/>
          <p:nvPr/>
        </p:nvSpPr>
        <p:spPr>
          <a:xfrm>
            <a:off x="6217920" y="1508760"/>
            <a:ext cx="5394960" cy="2331720"/>
          </a:xfrm>
          <a:prstGeom prst="roundRect">
            <a:avLst>
              <a:gd name="adj" fmla="val 3137"/>
            </a:avLst>
          </a:prstGeom>
          <a:solidFill>
            <a:srgbClr val="FFFFFF"/>
          </a:solidFill>
          <a:ln w="12700">
            <a:solidFill>
              <a:srgbClr val="DDE3E6"/>
            </a:solidFill>
            <a:prstDash val="solid"/>
          </a:ln>
          <a:effectLst>
            <a:outerShdw blurRad="101600" dist="25400" dir="5400000" algn="bl" rotWithShape="0">
              <a:srgbClr val="B9C3C7">
                <a:alpha val="35000"/>
              </a:srgbClr>
            </a:outerShdw>
          </a:effectLst>
        </p:spPr>
        <p:txBody>
          <a:bodyPr/>
          <a:lstStyle/>
          <a:p>
            <a:endParaRPr lang="en-US"/>
          </a:p>
        </p:txBody>
      </p:sp>
      <p:sp>
        <p:nvSpPr>
          <p:cNvPr id="9" name="Shape 7"/>
          <p:cNvSpPr/>
          <p:nvPr/>
        </p:nvSpPr>
        <p:spPr>
          <a:xfrm>
            <a:off x="6473952" y="1746504"/>
            <a:ext cx="457200" cy="457200"/>
          </a:xfrm>
          <a:prstGeom prst="ellipse">
            <a:avLst/>
          </a:prstGeom>
          <a:solidFill>
            <a:srgbClr val="C1440E"/>
          </a:solidFill>
          <a:ln w="12700">
            <a:solidFill>
              <a:srgbClr val="C1440E"/>
            </a:solidFill>
            <a:prstDash val="solid"/>
          </a:ln>
        </p:spPr>
        <p:txBody>
          <a:bodyPr/>
          <a:lstStyle/>
          <a:p>
            <a:endParaRPr lang="en-US"/>
          </a:p>
        </p:txBody>
      </p:sp>
      <p:sp>
        <p:nvSpPr>
          <p:cNvPr id="10" name="Text 8"/>
          <p:cNvSpPr/>
          <p:nvPr/>
        </p:nvSpPr>
        <p:spPr>
          <a:xfrm>
            <a:off x="6473952" y="174650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p:nvPr/>
        </p:nvSpPr>
        <p:spPr>
          <a:xfrm>
            <a:off x="7059168" y="1728216"/>
            <a:ext cx="4297680" cy="502920"/>
          </a:xfrm>
          <a:prstGeom prst="rect">
            <a:avLst/>
          </a:prstGeom>
          <a:noFill/>
          <a:ln/>
        </p:spPr>
        <p:txBody>
          <a:bodyPr wrap="square" lIns="0" tIns="0" rIns="0" bIns="0" rtlCol="0" anchor="ctr"/>
          <a:lstStyle/>
          <a:p>
            <a:pPr marL="0" indent="0">
              <a:buNone/>
            </a:pPr>
            <a:r>
              <a:rPr lang="en-US" sz="1700" b="1" dirty="0">
                <a:solidFill>
                  <a:srgbClr val="2B3440"/>
                </a:solidFill>
                <a:latin typeface="Calibri" pitchFamily="34" charset="0"/>
                <a:ea typeface="Calibri" pitchFamily="34" charset="-122"/>
                <a:cs typeface="Calibri" pitchFamily="34" charset="-120"/>
              </a:rPr>
              <a:t>The switch stopped choosing</a:t>
            </a:r>
            <a:endParaRPr lang="en-US" sz="1700" dirty="0"/>
          </a:p>
        </p:txBody>
      </p:sp>
      <p:sp>
        <p:nvSpPr>
          <p:cNvPr id="12" name="Text 10"/>
          <p:cNvSpPr/>
          <p:nvPr/>
        </p:nvSpPr>
        <p:spPr>
          <a:xfrm>
            <a:off x="7059168" y="2295144"/>
            <a:ext cx="4206240" cy="13716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2B3440"/>
                </a:solidFill>
                <a:latin typeface="Calibri" pitchFamily="34" charset="0"/>
                <a:ea typeface="Calibri" pitchFamily="34" charset="-122"/>
                <a:cs typeface="Calibri" pitchFamily="34" charset="-120"/>
              </a:rPr>
              <a:t>It should say: trust the graph for DDoS, the text for injection.</a:t>
            </a:r>
            <a:endParaRPr lang="en-US" sz="1350" dirty="0"/>
          </a:p>
          <a:p>
            <a:pPr marL="342900" indent="-342900">
              <a:spcAft>
                <a:spcPts val="600"/>
              </a:spcAft>
              <a:buSzPct val="100000"/>
              <a:buChar char="•"/>
            </a:pPr>
            <a:r>
              <a:rPr lang="en-US" sz="1350" dirty="0">
                <a:solidFill>
                  <a:srgbClr val="2B3440"/>
                </a:solidFill>
                <a:latin typeface="Calibri" pitchFamily="34" charset="0"/>
                <a:ea typeface="Calibri" pitchFamily="34" charset="-122"/>
                <a:cs typeface="Calibri" pitchFamily="34" charset="-120"/>
              </a:rPr>
              <a:t>Instead it gives almost the same answer to every attack type.</a:t>
            </a:r>
            <a:endParaRPr lang="en-US" sz="1350" dirty="0"/>
          </a:p>
          <a:p>
            <a:pPr marL="342900" indent="-342900">
              <a:spcAft>
                <a:spcPts val="600"/>
              </a:spcAft>
              <a:buSzPct val="100000"/>
              <a:buChar char="•"/>
            </a:pPr>
            <a:r>
              <a:rPr lang="en-US" sz="1350" dirty="0">
                <a:solidFill>
                  <a:srgbClr val="2B3440"/>
                </a:solidFill>
                <a:latin typeface="Calibri" pitchFamily="34" charset="0"/>
                <a:ea typeface="Calibri" pitchFamily="34" charset="-122"/>
                <a:cs typeface="Calibri" pitchFamily="34" charset="-120"/>
              </a:rPr>
              <a:t>It settled on one fixed setting for everything.</a:t>
            </a:r>
            <a:endParaRPr lang="en-US" sz="1350" dirty="0"/>
          </a:p>
        </p:txBody>
      </p:sp>
      <p:sp>
        <p:nvSpPr>
          <p:cNvPr id="13" name="Shape 11"/>
          <p:cNvSpPr/>
          <p:nvPr/>
        </p:nvSpPr>
        <p:spPr>
          <a:xfrm>
            <a:off x="546100" y="4203700"/>
            <a:ext cx="1765300" cy="1054100"/>
          </a:xfrm>
          <a:prstGeom prst="roundRect">
            <a:avLst>
              <a:gd name="adj" fmla="val 6957"/>
            </a:avLst>
          </a:prstGeom>
          <a:solidFill>
            <a:srgbClr val="F2F5F6"/>
          </a:solidFill>
          <a:ln w="12700">
            <a:solidFill>
              <a:srgbClr val="DDE3E6"/>
            </a:solidFill>
            <a:prstDash val="solid"/>
          </a:ln>
        </p:spPr>
        <p:txBody>
          <a:bodyPr/>
          <a:lstStyle/>
          <a:p>
            <a:endParaRPr lang="en-US"/>
          </a:p>
        </p:txBody>
      </p:sp>
      <p:sp>
        <p:nvSpPr>
          <p:cNvPr id="14" name="Text 12"/>
          <p:cNvSpPr/>
          <p:nvPr/>
        </p:nvSpPr>
        <p:spPr>
          <a:xfrm>
            <a:off x="546100" y="4318000"/>
            <a:ext cx="1765300" cy="546100"/>
          </a:xfrm>
          <a:prstGeom prst="rect">
            <a:avLst/>
          </a:prstGeom>
          <a:noFill/>
          <a:ln/>
        </p:spPr>
        <p:txBody>
          <a:bodyPr wrap="square" lIns="0" tIns="0" rIns="0" bIns="0" rtlCol="0" anchor="ctr"/>
          <a:lstStyle/>
          <a:p>
            <a:pPr marL="0" indent="0" algn="ctr">
              <a:buNone/>
            </a:pPr>
            <a:r>
              <a:rPr lang="en-US" sz="2400" b="1" dirty="0">
                <a:solidFill>
                  <a:srgbClr val="028090"/>
                </a:solidFill>
                <a:latin typeface="Calibri" pitchFamily="34" charset="0"/>
                <a:ea typeface="Calibri" pitchFamily="34" charset="-122"/>
                <a:cs typeface="Calibri" pitchFamily="34" charset="-120"/>
              </a:rPr>
              <a:t>0.340</a:t>
            </a:r>
            <a:endParaRPr lang="en-US" sz="2400" dirty="0"/>
          </a:p>
        </p:txBody>
      </p:sp>
      <p:sp>
        <p:nvSpPr>
          <p:cNvPr id="15" name="Text 13"/>
          <p:cNvSpPr/>
          <p:nvPr/>
        </p:nvSpPr>
        <p:spPr>
          <a:xfrm>
            <a:off x="546100" y="4864100"/>
            <a:ext cx="1765300" cy="304800"/>
          </a:xfrm>
          <a:prstGeom prst="rect">
            <a:avLst/>
          </a:prstGeom>
          <a:noFill/>
          <a:ln/>
        </p:spPr>
        <p:txBody>
          <a:bodyPr wrap="square" lIns="0" tIns="0" rIns="0" bIns="0" rtlCol="0" anchor="ctr"/>
          <a:lstStyle/>
          <a:p>
            <a:pPr marL="0" indent="0" algn="ctr">
              <a:buNone/>
            </a:pPr>
            <a:r>
              <a:rPr lang="en-US" sz="1100" dirty="0">
                <a:solidFill>
                  <a:srgbClr val="6B7683"/>
                </a:solidFill>
                <a:latin typeface="Calibri" pitchFamily="34" charset="0"/>
                <a:ea typeface="Calibri" pitchFamily="34" charset="-122"/>
                <a:cs typeface="Calibri" pitchFamily="34" charset="-120"/>
              </a:rPr>
              <a:t>GNN alone (macro-F1)</a:t>
            </a:r>
            <a:endParaRPr lang="en-US" sz="1100" dirty="0"/>
          </a:p>
        </p:txBody>
      </p:sp>
      <p:sp>
        <p:nvSpPr>
          <p:cNvPr id="16" name="Shape 14"/>
          <p:cNvSpPr/>
          <p:nvPr/>
        </p:nvSpPr>
        <p:spPr>
          <a:xfrm>
            <a:off x="2413000" y="4203700"/>
            <a:ext cx="1765300" cy="1054100"/>
          </a:xfrm>
          <a:prstGeom prst="roundRect">
            <a:avLst>
              <a:gd name="adj" fmla="val 6957"/>
            </a:avLst>
          </a:prstGeom>
          <a:solidFill>
            <a:srgbClr val="F2F5F6"/>
          </a:solidFill>
          <a:ln w="12700">
            <a:solidFill>
              <a:srgbClr val="DDE3E6"/>
            </a:solidFill>
            <a:prstDash val="solid"/>
          </a:ln>
        </p:spPr>
        <p:txBody>
          <a:bodyPr/>
          <a:lstStyle/>
          <a:p>
            <a:endParaRPr lang="en-US"/>
          </a:p>
        </p:txBody>
      </p:sp>
      <p:sp>
        <p:nvSpPr>
          <p:cNvPr id="17" name="Text 15"/>
          <p:cNvSpPr/>
          <p:nvPr/>
        </p:nvSpPr>
        <p:spPr>
          <a:xfrm>
            <a:off x="2413000" y="4318000"/>
            <a:ext cx="1765300" cy="546100"/>
          </a:xfrm>
          <a:prstGeom prst="rect">
            <a:avLst/>
          </a:prstGeom>
          <a:noFill/>
          <a:ln/>
        </p:spPr>
        <p:txBody>
          <a:bodyPr wrap="square" lIns="0" tIns="0" rIns="0" bIns="0" rtlCol="0" anchor="ctr"/>
          <a:lstStyle/>
          <a:p>
            <a:pPr marL="0" indent="0" algn="ctr">
              <a:buNone/>
            </a:pPr>
            <a:r>
              <a:rPr lang="en-US" sz="2400" b="1" dirty="0">
                <a:solidFill>
                  <a:srgbClr val="028090"/>
                </a:solidFill>
                <a:latin typeface="Calibri" pitchFamily="34" charset="0"/>
                <a:ea typeface="Calibri" pitchFamily="34" charset="-122"/>
                <a:cs typeface="Calibri" pitchFamily="34" charset="-120"/>
              </a:rPr>
              <a:t>0.445</a:t>
            </a:r>
            <a:endParaRPr lang="en-US" sz="2400" dirty="0"/>
          </a:p>
        </p:txBody>
      </p:sp>
      <p:sp>
        <p:nvSpPr>
          <p:cNvPr id="18" name="Text 16"/>
          <p:cNvSpPr/>
          <p:nvPr/>
        </p:nvSpPr>
        <p:spPr>
          <a:xfrm>
            <a:off x="2413000" y="4864100"/>
            <a:ext cx="1765300" cy="304800"/>
          </a:xfrm>
          <a:prstGeom prst="rect">
            <a:avLst/>
          </a:prstGeom>
          <a:noFill/>
          <a:ln/>
        </p:spPr>
        <p:txBody>
          <a:bodyPr wrap="square" lIns="0" tIns="0" rIns="0" bIns="0" rtlCol="0" anchor="ctr"/>
          <a:lstStyle/>
          <a:p>
            <a:pPr marL="0" indent="0" algn="ctr">
              <a:buNone/>
            </a:pPr>
            <a:r>
              <a:rPr lang="en-US" sz="1100" dirty="0">
                <a:solidFill>
                  <a:srgbClr val="6B7683"/>
                </a:solidFill>
                <a:latin typeface="Calibri" pitchFamily="34" charset="0"/>
                <a:ea typeface="Calibri" pitchFamily="34" charset="-122"/>
                <a:cs typeface="Calibri" pitchFamily="34" charset="-120"/>
              </a:rPr>
              <a:t>GNN + LLM fused</a:t>
            </a:r>
            <a:endParaRPr lang="en-US" sz="1100" dirty="0"/>
          </a:p>
        </p:txBody>
      </p:sp>
      <p:sp>
        <p:nvSpPr>
          <p:cNvPr id="19" name="Shape 17"/>
          <p:cNvSpPr/>
          <p:nvPr/>
        </p:nvSpPr>
        <p:spPr>
          <a:xfrm>
            <a:off x="8013700" y="4203700"/>
            <a:ext cx="1765300" cy="1054100"/>
          </a:xfrm>
          <a:prstGeom prst="roundRect">
            <a:avLst>
              <a:gd name="adj" fmla="val 6957"/>
            </a:avLst>
          </a:prstGeom>
          <a:solidFill>
            <a:srgbClr val="F2F5F6"/>
          </a:solidFill>
          <a:ln w="12700">
            <a:solidFill>
              <a:srgbClr val="DDE3E6"/>
            </a:solidFill>
            <a:prstDash val="solid"/>
          </a:ln>
        </p:spPr>
        <p:txBody>
          <a:bodyPr/>
          <a:lstStyle/>
          <a:p>
            <a:endParaRPr lang="en-US"/>
          </a:p>
        </p:txBody>
      </p:sp>
      <p:sp>
        <p:nvSpPr>
          <p:cNvPr id="20" name="Text 18"/>
          <p:cNvSpPr/>
          <p:nvPr/>
        </p:nvSpPr>
        <p:spPr>
          <a:xfrm>
            <a:off x="8013700" y="4318000"/>
            <a:ext cx="1765300" cy="546100"/>
          </a:xfrm>
          <a:prstGeom prst="rect">
            <a:avLst/>
          </a:prstGeom>
          <a:noFill/>
          <a:ln/>
        </p:spPr>
        <p:txBody>
          <a:bodyPr wrap="square" lIns="0" tIns="0" rIns="0" bIns="0" rtlCol="0" anchor="ctr"/>
          <a:lstStyle/>
          <a:p>
            <a:pPr marL="0" indent="0" algn="ctr">
              <a:buNone/>
            </a:pPr>
            <a:r>
              <a:rPr lang="en-US" sz="2800" b="1" dirty="0">
                <a:solidFill>
                  <a:srgbClr val="C1440E"/>
                </a:solidFill>
                <a:latin typeface="Calibri" pitchFamily="34" charset="0"/>
                <a:ea typeface="Calibri" pitchFamily="34" charset="-122"/>
                <a:cs typeface="Calibri" pitchFamily="34" charset="-120"/>
              </a:rPr>
              <a:t>0.38 – 0.48</a:t>
            </a:r>
            <a:endParaRPr lang="en-US" sz="2800" dirty="0"/>
          </a:p>
        </p:txBody>
      </p:sp>
      <p:sp>
        <p:nvSpPr>
          <p:cNvPr id="21" name="Text 19"/>
          <p:cNvSpPr/>
          <p:nvPr/>
        </p:nvSpPr>
        <p:spPr>
          <a:xfrm>
            <a:off x="8013700" y="4864100"/>
            <a:ext cx="1765300" cy="304800"/>
          </a:xfrm>
          <a:prstGeom prst="rect">
            <a:avLst/>
          </a:prstGeom>
          <a:noFill/>
          <a:ln/>
        </p:spPr>
        <p:txBody>
          <a:bodyPr wrap="square" lIns="0" tIns="0" rIns="0" bIns="0" rtlCol="0" anchor="ctr"/>
          <a:lstStyle/>
          <a:p>
            <a:pPr marL="0" indent="0" algn="ctr">
              <a:buNone/>
            </a:pPr>
            <a:r>
              <a:rPr lang="en-US" sz="1150" dirty="0">
                <a:solidFill>
                  <a:srgbClr val="6B7683"/>
                </a:solidFill>
                <a:latin typeface="Calibri" pitchFamily="34" charset="0"/>
                <a:ea typeface="Calibri" pitchFamily="34" charset="-122"/>
                <a:cs typeface="Calibri" pitchFamily="34" charset="-120"/>
              </a:rPr>
              <a:t>gate value, all classes</a:t>
            </a:r>
            <a:endParaRPr lang="en-US" sz="1150" dirty="0"/>
          </a:p>
        </p:txBody>
      </p:sp>
      <p:sp>
        <p:nvSpPr>
          <p:cNvPr id="22" name="Shape 20"/>
          <p:cNvSpPr/>
          <p:nvPr/>
        </p:nvSpPr>
        <p:spPr>
          <a:xfrm>
            <a:off x="9880600" y="4203700"/>
            <a:ext cx="1765300" cy="1054100"/>
          </a:xfrm>
          <a:prstGeom prst="roundRect">
            <a:avLst>
              <a:gd name="adj" fmla="val 6957"/>
            </a:avLst>
          </a:prstGeom>
          <a:solidFill>
            <a:srgbClr val="F2F5F6"/>
          </a:solidFill>
          <a:ln w="12700">
            <a:solidFill>
              <a:srgbClr val="DDE3E6"/>
            </a:solidFill>
            <a:prstDash val="solid"/>
          </a:ln>
        </p:spPr>
        <p:txBody>
          <a:bodyPr/>
          <a:lstStyle/>
          <a:p>
            <a:endParaRPr lang="en-US"/>
          </a:p>
        </p:txBody>
      </p:sp>
      <p:sp>
        <p:nvSpPr>
          <p:cNvPr id="23" name="Text 21"/>
          <p:cNvSpPr/>
          <p:nvPr/>
        </p:nvSpPr>
        <p:spPr>
          <a:xfrm>
            <a:off x="9880600" y="4318000"/>
            <a:ext cx="1765300" cy="546100"/>
          </a:xfrm>
          <a:prstGeom prst="rect">
            <a:avLst/>
          </a:prstGeom>
          <a:noFill/>
          <a:ln/>
        </p:spPr>
        <p:txBody>
          <a:bodyPr wrap="square" lIns="0" tIns="0" rIns="0" bIns="0" rtlCol="0" anchor="ctr"/>
          <a:lstStyle/>
          <a:p>
            <a:pPr marL="0" indent="0" algn="ctr">
              <a:buNone/>
            </a:pPr>
            <a:r>
              <a:rPr lang="en-US" sz="2800" b="1" dirty="0">
                <a:solidFill>
                  <a:srgbClr val="6B7683"/>
                </a:solidFill>
                <a:latin typeface="Calibri" pitchFamily="34" charset="0"/>
                <a:ea typeface="Calibri" pitchFamily="34" charset="-122"/>
                <a:cs typeface="Calibri" pitchFamily="34" charset="-120"/>
              </a:rPr>
              <a:t>same</a:t>
            </a:r>
            <a:endParaRPr lang="en-US" sz="2800" dirty="0"/>
          </a:p>
        </p:txBody>
      </p:sp>
      <p:sp>
        <p:nvSpPr>
          <p:cNvPr id="24" name="Text 22"/>
          <p:cNvSpPr/>
          <p:nvPr/>
        </p:nvSpPr>
        <p:spPr>
          <a:xfrm>
            <a:off x="9880600" y="4864100"/>
            <a:ext cx="1765300" cy="304800"/>
          </a:xfrm>
          <a:prstGeom prst="rect">
            <a:avLst/>
          </a:prstGeom>
          <a:noFill/>
          <a:ln/>
        </p:spPr>
        <p:txBody>
          <a:bodyPr wrap="square" lIns="0" tIns="0" rIns="0" bIns="0" rtlCol="0" anchor="ctr"/>
          <a:lstStyle/>
          <a:p>
            <a:pPr marL="0" indent="0" algn="ctr">
              <a:buNone/>
            </a:pPr>
            <a:r>
              <a:rPr lang="en-US" sz="1150" dirty="0">
                <a:solidFill>
                  <a:srgbClr val="6B7683"/>
                </a:solidFill>
                <a:latin typeface="Calibri" pitchFamily="34" charset="0"/>
                <a:ea typeface="Calibri" pitchFamily="34" charset="-122"/>
                <a:cs typeface="Calibri" pitchFamily="34" charset="-120"/>
              </a:rPr>
              <a:t>DDoS and XSS treated alike</a:t>
            </a:r>
            <a:endParaRPr lang="en-US" sz="1150" dirty="0"/>
          </a:p>
        </p:txBody>
      </p:sp>
      <p:sp>
        <p:nvSpPr>
          <p:cNvPr id="25" name="Text 23"/>
          <p:cNvSpPr/>
          <p:nvPr/>
        </p:nvSpPr>
        <p:spPr>
          <a:xfrm>
            <a:off x="548640" y="5577840"/>
            <a:ext cx="11064240" cy="457200"/>
          </a:xfrm>
          <a:prstGeom prst="rect">
            <a:avLst/>
          </a:prstGeom>
          <a:noFill/>
          <a:ln/>
        </p:spPr>
        <p:txBody>
          <a:bodyPr wrap="square" rtlCol="0" anchor="ctr"/>
          <a:lstStyle/>
          <a:p>
            <a:pPr marL="0" indent="0">
              <a:buNone/>
            </a:pPr>
            <a:r>
              <a:rPr lang="en-US" sz="1500" i="1" dirty="0">
                <a:solidFill>
                  <a:srgbClr val="2B3440"/>
                </a:solidFill>
                <a:latin typeface="Calibri" pitchFamily="34" charset="0"/>
                <a:ea typeface="Calibri" pitchFamily="34" charset="-122"/>
                <a:cs typeface="Calibri" pitchFamily="34" charset="-120"/>
              </a:rPr>
              <a:t>Fusion trades bulk accuracy for rare-attack recall — which is the trade we want.</a:t>
            </a:r>
            <a:endParaRPr lang="en-US" sz="1500" dirty="0"/>
          </a:p>
        </p:txBody>
      </p:sp>
      <p:sp>
        <p:nvSpPr>
          <p:cNvPr id="101" name="Shape 100"/>
          <p:cNvSpPr/>
          <p:nvPr/>
        </p:nvSpPr>
        <p:spPr>
          <a:xfrm>
            <a:off x="4279900" y="4203700"/>
            <a:ext cx="1765300" cy="1054100"/>
          </a:xfrm>
          <a:prstGeom prst="roundRect">
            <a:avLst>
              <a:gd name="adj" fmla="val 6957"/>
            </a:avLst>
          </a:prstGeom>
          <a:solidFill>
            <a:srgbClr val="F2F5F6"/>
          </a:solidFill>
          <a:ln w="12700">
            <a:solidFill>
              <a:srgbClr val="DDE3E6"/>
            </a:solidFill>
            <a:prstDash val="solid"/>
          </a:ln>
        </p:spPr>
        <p:txBody>
          <a:bodyPr/>
          <a:lstStyle/>
          <a:p>
            <a:endParaRPr lang="en-US"/>
          </a:p>
        </p:txBody>
      </p:sp>
      <p:sp>
        <p:nvSpPr>
          <p:cNvPr id="102" name="Text 101"/>
          <p:cNvSpPr/>
          <p:nvPr/>
        </p:nvSpPr>
        <p:spPr>
          <a:xfrm>
            <a:off x="4279900" y="4318000"/>
            <a:ext cx="1765300" cy="546100"/>
          </a:xfrm>
          <a:prstGeom prst="rect">
            <a:avLst/>
          </a:prstGeom>
          <a:noFill/>
          <a:ln/>
        </p:spPr>
        <p:txBody>
          <a:bodyPr wrap="square" lIns="0" tIns="0" rIns="0" bIns="0" rtlCol="0" anchor="ctr"/>
          <a:lstStyle/>
          <a:p>
            <a:pPr marL="0" indent="0" algn="ctr">
              <a:buNone/>
            </a:pPr>
            <a:r>
              <a:rPr lang="en-US" sz="2400" b="1" dirty="0">
                <a:solidFill>
                  <a:srgbClr val="028090"/>
                </a:solidFill>
                <a:latin typeface="Calibri" pitchFamily="34" charset="0"/>
                <a:ea typeface="Calibri" pitchFamily="34" charset="-122"/>
                <a:cs typeface="Calibri" pitchFamily="34" charset="-120"/>
              </a:rPr>
              <a:t>3×</a:t>
            </a:r>
            <a:endParaRPr lang="en-US" sz="2400" dirty="0"/>
          </a:p>
        </p:txBody>
      </p:sp>
      <p:sp>
        <p:nvSpPr>
          <p:cNvPr id="103" name="Text 102"/>
          <p:cNvSpPr/>
          <p:nvPr/>
        </p:nvSpPr>
        <p:spPr>
          <a:xfrm>
            <a:off x="4279900" y="4864100"/>
            <a:ext cx="1765300" cy="304800"/>
          </a:xfrm>
          <a:prstGeom prst="rect">
            <a:avLst/>
          </a:prstGeom>
          <a:noFill/>
          <a:ln/>
        </p:spPr>
        <p:txBody>
          <a:bodyPr wrap="square" lIns="0" tIns="0" rIns="0" bIns="0" rtlCol="0" anchor="ctr"/>
          <a:lstStyle/>
          <a:p>
            <a:pPr marL="0" indent="0" algn="ctr">
              <a:buNone/>
            </a:pPr>
            <a:r>
              <a:rPr lang="en-US" sz="1100" dirty="0">
                <a:solidFill>
                  <a:srgbClr val="6B7683"/>
                </a:solidFill>
                <a:latin typeface="Calibri" pitchFamily="34" charset="0"/>
                <a:ea typeface="Calibri" pitchFamily="34" charset="-122"/>
                <a:cs typeface="Calibri" pitchFamily="34" charset="-120"/>
              </a:rPr>
              <a:t>rare-class F1 gain</a:t>
            </a:r>
            <a:endParaRPr lang="en-US" sz="1100" dirty="0"/>
          </a:p>
        </p:txBody>
      </p:sp>
      <p:sp>
        <p:nvSpPr>
          <p:cNvPr id="104" name="Shape 103"/>
          <p:cNvSpPr/>
          <p:nvPr/>
        </p:nvSpPr>
        <p:spPr>
          <a:xfrm>
            <a:off x="6146800" y="4203700"/>
            <a:ext cx="1765300" cy="1054100"/>
          </a:xfrm>
          <a:prstGeom prst="roundRect">
            <a:avLst>
              <a:gd name="adj" fmla="val 6957"/>
            </a:avLst>
          </a:prstGeom>
          <a:solidFill>
            <a:srgbClr val="F2F5F6"/>
          </a:solidFill>
          <a:ln w="12700">
            <a:solidFill>
              <a:srgbClr val="DDE3E6"/>
            </a:solidFill>
            <a:prstDash val="solid"/>
          </a:ln>
        </p:spPr>
        <p:txBody>
          <a:bodyPr/>
          <a:lstStyle/>
          <a:p>
            <a:endParaRPr lang="en-US"/>
          </a:p>
        </p:txBody>
      </p:sp>
      <p:sp>
        <p:nvSpPr>
          <p:cNvPr id="105" name="Text 104"/>
          <p:cNvSpPr/>
          <p:nvPr/>
        </p:nvSpPr>
        <p:spPr>
          <a:xfrm>
            <a:off x="6146800" y="4318000"/>
            <a:ext cx="1765300" cy="546100"/>
          </a:xfrm>
          <a:prstGeom prst="rect">
            <a:avLst/>
          </a:prstGeom>
          <a:noFill/>
          <a:ln/>
        </p:spPr>
        <p:txBody>
          <a:bodyPr wrap="square" lIns="0" tIns="0" rIns="0" bIns="0" rtlCol="0" anchor="ctr"/>
          <a:lstStyle/>
          <a:p>
            <a:pPr marL="0" indent="0" algn="ctr">
              <a:buNone/>
            </a:pPr>
            <a:r>
              <a:rPr lang="en-US" sz="2400" b="1" dirty="0">
                <a:solidFill>
                  <a:srgbClr val="C1440E"/>
                </a:solidFill>
                <a:latin typeface="Calibri" pitchFamily="34" charset="0"/>
                <a:ea typeface="Calibri" pitchFamily="34" charset="-122"/>
                <a:cs typeface="Calibri" pitchFamily="34" charset="-120"/>
              </a:rPr>
              <a:t>0.72</a:t>
            </a:r>
            <a:endParaRPr lang="en-US" sz="2400" dirty="0"/>
          </a:p>
        </p:txBody>
      </p:sp>
      <p:sp>
        <p:nvSpPr>
          <p:cNvPr id="106" name="Text 105"/>
          <p:cNvSpPr/>
          <p:nvPr/>
        </p:nvSpPr>
        <p:spPr>
          <a:xfrm>
            <a:off x="6146800" y="4864100"/>
            <a:ext cx="1765300" cy="304800"/>
          </a:xfrm>
          <a:prstGeom prst="rect">
            <a:avLst/>
          </a:prstGeom>
          <a:noFill/>
          <a:ln/>
        </p:spPr>
        <p:txBody>
          <a:bodyPr wrap="square" lIns="0" tIns="0" rIns="0" bIns="0" rtlCol="0" anchor="ctr"/>
          <a:lstStyle/>
          <a:p>
            <a:pPr marL="0" indent="0" algn="ctr">
              <a:buNone/>
            </a:pPr>
            <a:r>
              <a:rPr lang="en-US" sz="1100" dirty="0">
                <a:solidFill>
                  <a:srgbClr val="6B7683"/>
                </a:solidFill>
                <a:latin typeface="Calibri" pitchFamily="34" charset="0"/>
                <a:ea typeface="Calibri" pitchFamily="34" charset="-122"/>
                <a:cs typeface="Calibri" pitchFamily="34" charset="-120"/>
              </a:rPr>
              <a:t>accuracy (down from 0.80)</a:t>
            </a:r>
            <a:endParaRPr lang="en-US" sz="1100" dirty="0"/>
          </a:p>
        </p:txBody>
      </p:sp>
      <p:sp>
        <p:nvSpPr>
          <p:cNvPr id="26" name="Finding 2 Caveat">
            <a:extLst>
              <a:ext uri="{FF2B5EF4-FFF2-40B4-BE49-F238E27FC236}">
                <a16:creationId xmlns:a16="http://schemas.microsoft.com/office/drawing/2014/main" id="{92CD1F6B-D4FE-7C4F-A997-EAC49EB8A4FC}"/>
              </a:ext>
            </a:extLst>
          </p:cNvPr>
          <p:cNvSpPr txBox="1"/>
          <p:nvPr/>
        </p:nvSpPr>
        <p:spPr>
          <a:xfrm>
            <a:off x="546100" y="6210300"/>
            <a:ext cx="11061700" cy="508000"/>
          </a:xfrm>
          <a:prstGeom prst="rect">
            <a:avLst/>
          </a:prstGeom>
          <a:solidFill>
            <a:srgbClr val="EAE5DC"/>
          </a:solidFill>
          <a:ln w="9525">
            <a:solidFill>
              <a:srgbClr val="D8D2C6"/>
            </a:solidFill>
          </a:ln>
        </p:spPr>
        <p:txBody>
          <a:bodyPr vertOverflow="overflow" vert="horz" wrap="square" rtlCol="0" anchor="t">
            <a:spAutoFit/>
          </a:bodyPr>
          <a:lstStyle/>
          <a:p>
            <a:pPr algn="l"/>
            <a:r>
              <a:rPr lang="en-US" sz="1400" i="1">
                <a:solidFill>
                  <a:srgbClr val="4A5460"/>
                </a:solidFill>
              </a:rPr>
              <a:t>Finding 2 caveat: our loss contains a term that rewards a balanced gate (</a:t>
            </a:r>
            <a:r>
              <a:rPr lang="el-GR" sz="1400" i="1">
                <a:solidFill>
                  <a:srgbClr val="4A5460"/>
                </a:solidFill>
              </a:rPr>
              <a:t>λ=0.01). </a:t>
            </a:r>
            <a:r>
              <a:rPr lang="en-US" sz="1400" i="1">
                <a:solidFill>
                  <a:srgbClr val="4A5460"/>
                </a:solidFill>
              </a:rPr>
              <a:t>Part of the freeze is self-inflicted. Not yet re-run with it off.</a:t>
            </a:r>
          </a:p>
        </p:txBody>
      </p:sp>
    </p:spTree>
    <p:extLst>
      <p:ext uri="{BB962C8B-B14F-4D97-AF65-F5344CB8AC3E}">
        <p14:creationId xmlns:p14="http://schemas.microsoft.com/office/powerpoint/2010/main" val="33315654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84048"/>
            <a:ext cx="11064240" cy="640080"/>
          </a:xfrm>
          <a:prstGeom prst="rect">
            <a:avLst/>
          </a:prstGeom>
          <a:noFill/>
          <a:ln/>
        </p:spPr>
        <p:txBody>
          <a:bodyPr wrap="square" rtlCol="0" anchor="ctr"/>
          <a:lstStyle/>
          <a:p>
            <a:pPr marL="0" indent="0">
              <a:buNone/>
            </a:pPr>
            <a:r>
              <a:rPr lang="en-US" sz="3200" b="1" dirty="0">
                <a:solidFill>
                  <a:srgbClr val="2B3440"/>
                </a:solidFill>
                <a:latin typeface="Cambria" pitchFamily="34" charset="0"/>
                <a:ea typeface="Cambria" pitchFamily="34" charset="-122"/>
                <a:cs typeface="Cambria" pitchFamily="34" charset="-120"/>
              </a:rPr>
              <a:t>Finding 3 &amp; 4 — the switch earns nothing</a:t>
            </a:r>
            <a:endParaRPr lang="en-US" sz="3200" dirty="0"/>
          </a:p>
        </p:txBody>
      </p:sp>
      <p:sp>
        <p:nvSpPr>
          <p:cNvPr id="3" name="Shape 1"/>
          <p:cNvSpPr/>
          <p:nvPr/>
        </p:nvSpPr>
        <p:spPr>
          <a:xfrm>
            <a:off x="548640" y="1508760"/>
            <a:ext cx="5394960" cy="2331720"/>
          </a:xfrm>
          <a:prstGeom prst="roundRect">
            <a:avLst>
              <a:gd name="adj" fmla="val 3137"/>
            </a:avLst>
          </a:prstGeom>
          <a:solidFill>
            <a:srgbClr val="FFFFFF"/>
          </a:solidFill>
          <a:ln w="12700">
            <a:solidFill>
              <a:srgbClr val="DDE3E6"/>
            </a:solidFill>
            <a:prstDash val="solid"/>
          </a:ln>
          <a:effectLst>
            <a:outerShdw blurRad="101600" dist="25400" dir="5400000" algn="bl" rotWithShape="0">
              <a:srgbClr val="B9C3C7">
                <a:alpha val="35000"/>
              </a:srgbClr>
            </a:outerShdw>
          </a:effectLst>
        </p:spPr>
        <p:txBody>
          <a:bodyPr/>
          <a:lstStyle/>
          <a:p>
            <a:endParaRPr lang="en-US"/>
          </a:p>
        </p:txBody>
      </p:sp>
      <p:sp>
        <p:nvSpPr>
          <p:cNvPr id="4" name="Shape 2"/>
          <p:cNvSpPr/>
          <p:nvPr/>
        </p:nvSpPr>
        <p:spPr>
          <a:xfrm>
            <a:off x="804672" y="1746504"/>
            <a:ext cx="457200" cy="457200"/>
          </a:xfrm>
          <a:prstGeom prst="ellipse">
            <a:avLst/>
          </a:prstGeom>
          <a:solidFill>
            <a:srgbClr val="028090"/>
          </a:solidFill>
          <a:ln w="12700">
            <a:solidFill>
              <a:srgbClr val="028090"/>
            </a:solidFill>
            <a:prstDash val="solid"/>
          </a:ln>
        </p:spPr>
        <p:txBody>
          <a:bodyPr/>
          <a:lstStyle/>
          <a:p>
            <a:endParaRPr lang="en-US"/>
          </a:p>
        </p:txBody>
      </p:sp>
      <p:sp>
        <p:nvSpPr>
          <p:cNvPr id="5" name="Text 3"/>
          <p:cNvSpPr/>
          <p:nvPr/>
        </p:nvSpPr>
        <p:spPr>
          <a:xfrm>
            <a:off x="804672" y="174650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6" name="Text 4"/>
          <p:cNvSpPr/>
          <p:nvPr/>
        </p:nvSpPr>
        <p:spPr>
          <a:xfrm>
            <a:off x="1389888" y="1728216"/>
            <a:ext cx="4297680" cy="502920"/>
          </a:xfrm>
          <a:prstGeom prst="rect">
            <a:avLst/>
          </a:prstGeom>
          <a:noFill/>
          <a:ln/>
        </p:spPr>
        <p:txBody>
          <a:bodyPr wrap="square" lIns="0" tIns="0" rIns="0" bIns="0" rtlCol="0" anchor="ctr"/>
          <a:lstStyle/>
          <a:p>
            <a:pPr marL="0" indent="0">
              <a:buNone/>
            </a:pPr>
            <a:r>
              <a:rPr lang="en-US" sz="1700" b="1" dirty="0">
                <a:solidFill>
                  <a:srgbClr val="2B3440"/>
                </a:solidFill>
                <a:latin typeface="Calibri" pitchFamily="34" charset="0"/>
                <a:ea typeface="Calibri" pitchFamily="34" charset="-122"/>
                <a:cs typeface="Calibri" pitchFamily="34" charset="-120"/>
              </a:rPr>
              <a:t>The switch does no work</a:t>
            </a:r>
            <a:endParaRPr lang="en-US" sz="1700" dirty="0"/>
          </a:p>
        </p:txBody>
      </p:sp>
      <p:sp>
        <p:nvSpPr>
          <p:cNvPr id="7" name="Text 5"/>
          <p:cNvSpPr/>
          <p:nvPr/>
        </p:nvSpPr>
        <p:spPr>
          <a:xfrm>
            <a:off x="1389888" y="2295144"/>
            <a:ext cx="4206240" cy="13716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2B3440"/>
                </a:solidFill>
                <a:latin typeface="Calibri" pitchFamily="34" charset="0"/>
                <a:ea typeface="Calibri" pitchFamily="34" charset="-122"/>
                <a:cs typeface="Calibri" pitchFamily="34" charset="-120"/>
              </a:rPr>
              <a:t>We removed it and simply handed both sources to the classifier.</a:t>
            </a:r>
            <a:endParaRPr lang="en-US" sz="1350" dirty="0"/>
          </a:p>
          <a:p>
            <a:pPr marL="342900" indent="-342900">
              <a:spcAft>
                <a:spcPts val="600"/>
              </a:spcAft>
              <a:buSzPct val="100000"/>
              <a:buChar char="•"/>
            </a:pPr>
            <a:r>
              <a:rPr lang="en-US" sz="1350" dirty="0">
                <a:solidFill>
                  <a:srgbClr val="2B3440"/>
                </a:solidFill>
                <a:latin typeface="Calibri" pitchFamily="34" charset="0"/>
                <a:ea typeface="Calibri" pitchFamily="34" charset="-122"/>
                <a:cs typeface="Calibri" pitchFamily="34" charset="-120"/>
              </a:rPr>
              <a:t>The score did not move.</a:t>
            </a:r>
            <a:endParaRPr lang="en-US" sz="1350" dirty="0"/>
          </a:p>
          <a:p>
            <a:pPr marL="342900" indent="-342900">
              <a:spcAft>
                <a:spcPts val="600"/>
              </a:spcAft>
              <a:buSzPct val="100000"/>
              <a:buChar char="•"/>
            </a:pPr>
            <a:r>
              <a:rPr lang="en-US" sz="1350" dirty="0">
                <a:solidFill>
                  <a:srgbClr val="2B3440"/>
                </a:solidFill>
                <a:latin typeface="Calibri" pitchFamily="34" charset="0"/>
                <a:ea typeface="Calibri" pitchFamily="34" charset="-122"/>
                <a:cs typeface="Calibri" pitchFamily="34" charset="-120"/>
              </a:rPr>
              <a:t>So the gate is decoration — it is not earning its place.</a:t>
            </a:r>
            <a:endParaRPr lang="en-US" sz="1350" dirty="0"/>
          </a:p>
        </p:txBody>
      </p:sp>
      <p:sp>
        <p:nvSpPr>
          <p:cNvPr id="8" name="Shape 6"/>
          <p:cNvSpPr/>
          <p:nvPr/>
        </p:nvSpPr>
        <p:spPr>
          <a:xfrm>
            <a:off x="6217920" y="1508760"/>
            <a:ext cx="5394960" cy="2331720"/>
          </a:xfrm>
          <a:prstGeom prst="roundRect">
            <a:avLst>
              <a:gd name="adj" fmla="val 3137"/>
            </a:avLst>
          </a:prstGeom>
          <a:solidFill>
            <a:srgbClr val="FFFFFF"/>
          </a:solidFill>
          <a:ln w="12700">
            <a:solidFill>
              <a:srgbClr val="DDE3E6"/>
            </a:solidFill>
            <a:prstDash val="solid"/>
          </a:ln>
          <a:effectLst>
            <a:outerShdw blurRad="101600" dist="25400" dir="5400000" algn="bl" rotWithShape="0">
              <a:srgbClr val="B9C3C7">
                <a:alpha val="35000"/>
              </a:srgbClr>
            </a:outerShdw>
          </a:effectLst>
        </p:spPr>
        <p:txBody>
          <a:bodyPr/>
          <a:lstStyle/>
          <a:p>
            <a:endParaRPr lang="en-US"/>
          </a:p>
        </p:txBody>
      </p:sp>
      <p:sp>
        <p:nvSpPr>
          <p:cNvPr id="9" name="Shape 7"/>
          <p:cNvSpPr/>
          <p:nvPr/>
        </p:nvSpPr>
        <p:spPr>
          <a:xfrm>
            <a:off x="6473952" y="1746504"/>
            <a:ext cx="457200" cy="457200"/>
          </a:xfrm>
          <a:prstGeom prst="ellipse">
            <a:avLst/>
          </a:prstGeom>
          <a:solidFill>
            <a:srgbClr val="C1440E"/>
          </a:solidFill>
          <a:ln w="12700">
            <a:solidFill>
              <a:srgbClr val="C1440E"/>
            </a:solidFill>
            <a:prstDash val="solid"/>
          </a:ln>
        </p:spPr>
        <p:txBody>
          <a:bodyPr/>
          <a:lstStyle/>
          <a:p>
            <a:endParaRPr lang="en-US"/>
          </a:p>
        </p:txBody>
      </p:sp>
      <p:sp>
        <p:nvSpPr>
          <p:cNvPr id="10" name="Text 8"/>
          <p:cNvSpPr/>
          <p:nvPr/>
        </p:nvSpPr>
        <p:spPr>
          <a:xfrm>
            <a:off x="6473952" y="174650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p:nvPr/>
        </p:nvSpPr>
        <p:spPr>
          <a:xfrm>
            <a:off x="7059168" y="1728216"/>
            <a:ext cx="4297680" cy="502920"/>
          </a:xfrm>
          <a:prstGeom prst="rect">
            <a:avLst/>
          </a:prstGeom>
          <a:noFill/>
          <a:ln/>
        </p:spPr>
        <p:txBody>
          <a:bodyPr wrap="square" lIns="0" tIns="0" rIns="0" bIns="0" rtlCol="0" anchor="ctr"/>
          <a:lstStyle/>
          <a:p>
            <a:pPr marL="0" indent="0">
              <a:buNone/>
            </a:pPr>
            <a:r>
              <a:rPr lang="en-US" sz="1700" b="1" dirty="0">
                <a:solidFill>
                  <a:srgbClr val="2B3440"/>
                </a:solidFill>
                <a:latin typeface="Calibri" pitchFamily="34" charset="0"/>
                <a:ea typeface="Calibri" pitchFamily="34" charset="-122"/>
                <a:cs typeface="Calibri" pitchFamily="34" charset="-120"/>
              </a:rPr>
              <a:t>The repair we expected to work did not</a:t>
            </a:r>
            <a:endParaRPr lang="en-US" sz="1700" dirty="0"/>
          </a:p>
        </p:txBody>
      </p:sp>
      <p:sp>
        <p:nvSpPr>
          <p:cNvPr id="12" name="Text 10"/>
          <p:cNvSpPr/>
          <p:nvPr/>
        </p:nvSpPr>
        <p:spPr>
          <a:xfrm>
            <a:off x="7059168" y="2295144"/>
            <a:ext cx="4206240" cy="13716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2B3440"/>
                </a:solidFill>
                <a:latin typeface="Calibri" pitchFamily="34" charset="0"/>
                <a:ea typeface="Calibri" pitchFamily="34" charset="-122"/>
                <a:cs typeface="Calibri" pitchFamily="34" charset="-120"/>
              </a:rPr>
              <a:t>We thought the two sources speak different numeric 'languages'.</a:t>
            </a:r>
            <a:endParaRPr lang="en-US" sz="1350" dirty="0"/>
          </a:p>
          <a:p>
            <a:pPr marL="342900" indent="-342900">
              <a:spcAft>
                <a:spcPts val="600"/>
              </a:spcAft>
              <a:buSzPct val="100000"/>
              <a:buChar char="•"/>
            </a:pPr>
            <a:r>
              <a:rPr lang="en-US" sz="1350" dirty="0">
                <a:solidFill>
                  <a:srgbClr val="2B3440"/>
                </a:solidFill>
                <a:latin typeface="Calibri" pitchFamily="34" charset="0"/>
                <a:ea typeface="Calibri" pitchFamily="34" charset="-122"/>
                <a:cs typeface="Calibri" pitchFamily="34" charset="-120"/>
              </a:rPr>
              <a:t>So we added an alignment step before mixing (from the literature).</a:t>
            </a:r>
            <a:endParaRPr lang="en-US" sz="1350" dirty="0"/>
          </a:p>
          <a:p>
            <a:pPr marL="342900" indent="-342900">
              <a:spcAft>
                <a:spcPts val="600"/>
              </a:spcAft>
              <a:buSzPct val="100000"/>
              <a:buChar char="•"/>
            </a:pPr>
            <a:r>
              <a:rPr lang="en-US" sz="1350" dirty="0">
                <a:solidFill>
                  <a:srgbClr val="2B3440"/>
                </a:solidFill>
                <a:latin typeface="Calibri" pitchFamily="34" charset="0"/>
                <a:ea typeface="Calibri" pitchFamily="34" charset="-122"/>
                <a:cs typeface="Calibri" pitchFamily="34" charset="-120"/>
              </a:rPr>
              <a:t>It made results worse. Our diagnosis was wrong.</a:t>
            </a:r>
            <a:endParaRPr lang="en-US" sz="1350" dirty="0"/>
          </a:p>
        </p:txBody>
      </p:sp>
      <p:sp>
        <p:nvSpPr>
          <p:cNvPr id="13" name="Shape 11"/>
          <p:cNvSpPr/>
          <p:nvPr/>
        </p:nvSpPr>
        <p:spPr>
          <a:xfrm>
            <a:off x="548640" y="4206240"/>
            <a:ext cx="2468880" cy="1051560"/>
          </a:xfrm>
          <a:prstGeom prst="roundRect">
            <a:avLst>
              <a:gd name="adj" fmla="val 6957"/>
            </a:avLst>
          </a:prstGeom>
          <a:solidFill>
            <a:srgbClr val="F2F5F6"/>
          </a:solidFill>
          <a:ln w="12700">
            <a:solidFill>
              <a:srgbClr val="DDE3E6"/>
            </a:solidFill>
            <a:prstDash val="solid"/>
          </a:ln>
        </p:spPr>
        <p:txBody>
          <a:bodyPr/>
          <a:lstStyle/>
          <a:p>
            <a:endParaRPr lang="en-US"/>
          </a:p>
        </p:txBody>
      </p:sp>
      <p:sp>
        <p:nvSpPr>
          <p:cNvPr id="14" name="Text 12"/>
          <p:cNvSpPr/>
          <p:nvPr/>
        </p:nvSpPr>
        <p:spPr>
          <a:xfrm>
            <a:off x="548640" y="4315968"/>
            <a:ext cx="2468880" cy="548640"/>
          </a:xfrm>
          <a:prstGeom prst="rect">
            <a:avLst/>
          </a:prstGeom>
          <a:noFill/>
          <a:ln/>
        </p:spPr>
        <p:txBody>
          <a:bodyPr wrap="square" lIns="0" tIns="0" rIns="0" bIns="0" rtlCol="0" anchor="ctr"/>
          <a:lstStyle/>
          <a:p>
            <a:pPr marL="0" indent="0" algn="ctr">
              <a:buNone/>
            </a:pPr>
            <a:r>
              <a:rPr lang="en-US" sz="2800" b="1" dirty="0">
                <a:solidFill>
                  <a:srgbClr val="028090"/>
                </a:solidFill>
                <a:latin typeface="Calibri" pitchFamily="34" charset="0"/>
                <a:ea typeface="Calibri" pitchFamily="34" charset="-122"/>
                <a:cs typeface="Calibri" pitchFamily="34" charset="-120"/>
              </a:rPr>
              <a:t>0.393</a:t>
            </a:r>
            <a:endParaRPr lang="en-US" sz="2800" dirty="0"/>
          </a:p>
        </p:txBody>
      </p:sp>
      <p:sp>
        <p:nvSpPr>
          <p:cNvPr id="15" name="Text 13"/>
          <p:cNvSpPr/>
          <p:nvPr/>
        </p:nvSpPr>
        <p:spPr>
          <a:xfrm>
            <a:off x="640080" y="4864608"/>
            <a:ext cx="2286000" cy="310896"/>
          </a:xfrm>
          <a:prstGeom prst="rect">
            <a:avLst/>
          </a:prstGeom>
          <a:noFill/>
          <a:ln/>
        </p:spPr>
        <p:txBody>
          <a:bodyPr wrap="square" lIns="0" tIns="0" rIns="0" bIns="0" rtlCol="0" anchor="ctr"/>
          <a:lstStyle/>
          <a:p>
            <a:pPr marL="0" indent="0" algn="ctr">
              <a:buNone/>
            </a:pPr>
            <a:r>
              <a:rPr lang="en-US" sz="1150" dirty="0">
                <a:solidFill>
                  <a:srgbClr val="6B7683"/>
                </a:solidFill>
                <a:latin typeface="Calibri" pitchFamily="34" charset="0"/>
                <a:ea typeface="Calibri" pitchFamily="34" charset="-122"/>
                <a:cs typeface="Calibri" pitchFamily="34" charset="-120"/>
              </a:rPr>
              <a:t>plain concatenation</a:t>
            </a:r>
            <a:endParaRPr lang="en-US" sz="1150" dirty="0"/>
          </a:p>
        </p:txBody>
      </p:sp>
      <p:sp>
        <p:nvSpPr>
          <p:cNvPr id="16" name="Shape 14"/>
          <p:cNvSpPr/>
          <p:nvPr/>
        </p:nvSpPr>
        <p:spPr>
          <a:xfrm>
            <a:off x="3246120" y="4206240"/>
            <a:ext cx="2468880" cy="1051560"/>
          </a:xfrm>
          <a:prstGeom prst="roundRect">
            <a:avLst>
              <a:gd name="adj" fmla="val 6957"/>
            </a:avLst>
          </a:prstGeom>
          <a:solidFill>
            <a:srgbClr val="F2F5F6"/>
          </a:solidFill>
          <a:ln w="12700">
            <a:solidFill>
              <a:srgbClr val="DDE3E6"/>
            </a:solidFill>
            <a:prstDash val="solid"/>
          </a:ln>
        </p:spPr>
        <p:txBody>
          <a:bodyPr/>
          <a:lstStyle/>
          <a:p>
            <a:endParaRPr lang="en-US"/>
          </a:p>
        </p:txBody>
      </p:sp>
      <p:sp>
        <p:nvSpPr>
          <p:cNvPr id="17" name="Text 15"/>
          <p:cNvSpPr/>
          <p:nvPr/>
        </p:nvSpPr>
        <p:spPr>
          <a:xfrm>
            <a:off x="3246120" y="4315968"/>
            <a:ext cx="2468880" cy="548640"/>
          </a:xfrm>
          <a:prstGeom prst="rect">
            <a:avLst/>
          </a:prstGeom>
          <a:noFill/>
          <a:ln/>
        </p:spPr>
        <p:txBody>
          <a:bodyPr wrap="square" lIns="0" tIns="0" rIns="0" bIns="0" rtlCol="0" anchor="ctr"/>
          <a:lstStyle/>
          <a:p>
            <a:pPr marL="0" indent="0" algn="ctr">
              <a:buNone/>
            </a:pPr>
            <a:r>
              <a:rPr lang="en-US" sz="2800" b="1" dirty="0">
                <a:solidFill>
                  <a:srgbClr val="028090"/>
                </a:solidFill>
                <a:latin typeface="Calibri" pitchFamily="34" charset="0"/>
                <a:ea typeface="Calibri" pitchFamily="34" charset="-122"/>
                <a:cs typeface="Calibri" pitchFamily="34" charset="-120"/>
              </a:rPr>
              <a:t>0.391</a:t>
            </a:r>
            <a:endParaRPr lang="en-US" sz="2800" dirty="0"/>
          </a:p>
        </p:txBody>
      </p:sp>
      <p:sp>
        <p:nvSpPr>
          <p:cNvPr id="18" name="Text 16"/>
          <p:cNvSpPr/>
          <p:nvPr/>
        </p:nvSpPr>
        <p:spPr>
          <a:xfrm>
            <a:off x="3337560" y="4864608"/>
            <a:ext cx="2286000" cy="310896"/>
          </a:xfrm>
          <a:prstGeom prst="rect">
            <a:avLst/>
          </a:prstGeom>
          <a:noFill/>
          <a:ln/>
        </p:spPr>
        <p:txBody>
          <a:bodyPr wrap="square" lIns="0" tIns="0" rIns="0" bIns="0" rtlCol="0" anchor="ctr"/>
          <a:lstStyle/>
          <a:p>
            <a:pPr marL="0" indent="0" algn="ctr">
              <a:buNone/>
            </a:pPr>
            <a:r>
              <a:rPr lang="en-US" sz="1150" dirty="0">
                <a:solidFill>
                  <a:srgbClr val="6B7683"/>
                </a:solidFill>
                <a:latin typeface="Calibri" pitchFamily="34" charset="0"/>
                <a:ea typeface="Calibri" pitchFamily="34" charset="-122"/>
                <a:cs typeface="Calibri" pitchFamily="34" charset="-120"/>
              </a:rPr>
              <a:t>our learned gate</a:t>
            </a:r>
            <a:endParaRPr lang="en-US" sz="1150" dirty="0"/>
          </a:p>
        </p:txBody>
      </p:sp>
      <p:sp>
        <p:nvSpPr>
          <p:cNvPr id="19" name="Shape 17"/>
          <p:cNvSpPr/>
          <p:nvPr/>
        </p:nvSpPr>
        <p:spPr>
          <a:xfrm>
            <a:off x="6217920" y="4206240"/>
            <a:ext cx="2468880" cy="1051560"/>
          </a:xfrm>
          <a:prstGeom prst="roundRect">
            <a:avLst>
              <a:gd name="adj" fmla="val 6957"/>
            </a:avLst>
          </a:prstGeom>
          <a:solidFill>
            <a:srgbClr val="F2F5F6"/>
          </a:solidFill>
          <a:ln w="12700">
            <a:solidFill>
              <a:srgbClr val="DDE3E6"/>
            </a:solidFill>
            <a:prstDash val="solid"/>
          </a:ln>
        </p:spPr>
        <p:txBody>
          <a:bodyPr/>
          <a:lstStyle/>
          <a:p>
            <a:endParaRPr lang="en-US"/>
          </a:p>
        </p:txBody>
      </p:sp>
      <p:sp>
        <p:nvSpPr>
          <p:cNvPr id="20" name="Text 18"/>
          <p:cNvSpPr/>
          <p:nvPr/>
        </p:nvSpPr>
        <p:spPr>
          <a:xfrm>
            <a:off x="6217920" y="4315968"/>
            <a:ext cx="2468880" cy="548640"/>
          </a:xfrm>
          <a:prstGeom prst="rect">
            <a:avLst/>
          </a:prstGeom>
          <a:noFill/>
          <a:ln/>
        </p:spPr>
        <p:txBody>
          <a:bodyPr wrap="square" lIns="0" tIns="0" rIns="0" bIns="0" rtlCol="0" anchor="ctr"/>
          <a:lstStyle/>
          <a:p>
            <a:pPr marL="0" indent="0" algn="ctr">
              <a:buNone/>
            </a:pPr>
            <a:r>
              <a:rPr lang="en-US" sz="2800" b="1" dirty="0">
                <a:solidFill>
                  <a:srgbClr val="C1440E"/>
                </a:solidFill>
                <a:latin typeface="Calibri" pitchFamily="34" charset="0"/>
                <a:ea typeface="Calibri" pitchFamily="34" charset="-122"/>
                <a:cs typeface="Calibri" pitchFamily="34" charset="-120"/>
              </a:rPr>
              <a:t>0.347</a:t>
            </a:r>
            <a:endParaRPr lang="en-US" sz="2800" dirty="0"/>
          </a:p>
        </p:txBody>
      </p:sp>
      <p:sp>
        <p:nvSpPr>
          <p:cNvPr id="21" name="Text 19"/>
          <p:cNvSpPr/>
          <p:nvPr/>
        </p:nvSpPr>
        <p:spPr>
          <a:xfrm>
            <a:off x="6309360" y="4864608"/>
            <a:ext cx="2286000" cy="310896"/>
          </a:xfrm>
          <a:prstGeom prst="rect">
            <a:avLst/>
          </a:prstGeom>
          <a:noFill/>
          <a:ln/>
        </p:spPr>
        <p:txBody>
          <a:bodyPr wrap="square" lIns="0" tIns="0" rIns="0" bIns="0" rtlCol="0" anchor="ctr"/>
          <a:lstStyle/>
          <a:p>
            <a:pPr marL="0" indent="0" algn="ctr">
              <a:buNone/>
            </a:pPr>
            <a:r>
              <a:rPr lang="en-US" sz="1150" dirty="0">
                <a:solidFill>
                  <a:srgbClr val="6B7683"/>
                </a:solidFill>
                <a:latin typeface="Calibri" pitchFamily="34" charset="0"/>
                <a:ea typeface="Calibri" pitchFamily="34" charset="-122"/>
                <a:cs typeface="Calibri" pitchFamily="34" charset="-120"/>
              </a:rPr>
              <a:t>with alignment, low</a:t>
            </a:r>
            <a:endParaRPr lang="en-US" sz="1150" dirty="0"/>
          </a:p>
        </p:txBody>
      </p:sp>
      <p:sp>
        <p:nvSpPr>
          <p:cNvPr id="22" name="Shape 20"/>
          <p:cNvSpPr/>
          <p:nvPr/>
        </p:nvSpPr>
        <p:spPr>
          <a:xfrm>
            <a:off x="8915400" y="4206240"/>
            <a:ext cx="2697480" cy="1051560"/>
          </a:xfrm>
          <a:prstGeom prst="roundRect">
            <a:avLst>
              <a:gd name="adj" fmla="val 6957"/>
            </a:avLst>
          </a:prstGeom>
          <a:solidFill>
            <a:srgbClr val="F2F5F6"/>
          </a:solidFill>
          <a:ln w="12700">
            <a:solidFill>
              <a:srgbClr val="DDE3E6"/>
            </a:solidFill>
            <a:prstDash val="solid"/>
          </a:ln>
        </p:spPr>
        <p:txBody>
          <a:bodyPr/>
          <a:lstStyle/>
          <a:p>
            <a:endParaRPr lang="en-US"/>
          </a:p>
        </p:txBody>
      </p:sp>
      <p:sp>
        <p:nvSpPr>
          <p:cNvPr id="23" name="Text 21"/>
          <p:cNvSpPr/>
          <p:nvPr/>
        </p:nvSpPr>
        <p:spPr>
          <a:xfrm>
            <a:off x="8915400" y="4315968"/>
            <a:ext cx="2697480" cy="548640"/>
          </a:xfrm>
          <a:prstGeom prst="rect">
            <a:avLst/>
          </a:prstGeom>
          <a:noFill/>
          <a:ln/>
        </p:spPr>
        <p:txBody>
          <a:bodyPr wrap="square" lIns="0" tIns="0" rIns="0" bIns="0" rtlCol="0" anchor="ctr"/>
          <a:lstStyle/>
          <a:p>
            <a:pPr marL="0" indent="0" algn="ctr">
              <a:buNone/>
            </a:pPr>
            <a:r>
              <a:rPr lang="en-US" sz="2800" b="1" dirty="0">
                <a:solidFill>
                  <a:srgbClr val="C1440E"/>
                </a:solidFill>
                <a:latin typeface="Calibri" pitchFamily="34" charset="0"/>
                <a:ea typeface="Calibri" pitchFamily="34" charset="-122"/>
                <a:cs typeface="Calibri" pitchFamily="34" charset="-120"/>
              </a:rPr>
              <a:t>0.298</a:t>
            </a:r>
            <a:endParaRPr lang="en-US" sz="2800" dirty="0"/>
          </a:p>
        </p:txBody>
      </p:sp>
      <p:sp>
        <p:nvSpPr>
          <p:cNvPr id="24" name="Text 22"/>
          <p:cNvSpPr/>
          <p:nvPr/>
        </p:nvSpPr>
        <p:spPr>
          <a:xfrm>
            <a:off x="9006840" y="4864608"/>
            <a:ext cx="2514600" cy="310896"/>
          </a:xfrm>
          <a:prstGeom prst="rect">
            <a:avLst/>
          </a:prstGeom>
          <a:noFill/>
          <a:ln/>
        </p:spPr>
        <p:txBody>
          <a:bodyPr wrap="square" lIns="0" tIns="0" rIns="0" bIns="0" rtlCol="0" anchor="ctr"/>
          <a:lstStyle/>
          <a:p>
            <a:pPr marL="0" indent="0" algn="ctr">
              <a:buNone/>
            </a:pPr>
            <a:r>
              <a:rPr lang="en-US" sz="1150" dirty="0">
                <a:solidFill>
                  <a:srgbClr val="6B7683"/>
                </a:solidFill>
                <a:latin typeface="Calibri" pitchFamily="34" charset="0"/>
                <a:ea typeface="Calibri" pitchFamily="34" charset="-122"/>
                <a:cs typeface="Calibri" pitchFamily="34" charset="-120"/>
              </a:rPr>
              <a:t>with alignment, high</a:t>
            </a:r>
            <a:endParaRPr lang="en-US" sz="1150" dirty="0"/>
          </a:p>
        </p:txBody>
      </p:sp>
      <p:sp>
        <p:nvSpPr>
          <p:cNvPr id="25" name="Text 23"/>
          <p:cNvSpPr/>
          <p:nvPr/>
        </p:nvSpPr>
        <p:spPr>
          <a:xfrm>
            <a:off x="548640" y="5577840"/>
            <a:ext cx="11064240" cy="457200"/>
          </a:xfrm>
          <a:prstGeom prst="rect">
            <a:avLst/>
          </a:prstGeom>
          <a:noFill/>
          <a:ln/>
        </p:spPr>
        <p:txBody>
          <a:bodyPr wrap="square" rtlCol="0" anchor="ctr"/>
          <a:lstStyle/>
          <a:p>
            <a:pPr marL="0" indent="0">
              <a:buNone/>
            </a:pPr>
            <a:r>
              <a:rPr lang="en-US" sz="1500" i="1" dirty="0">
                <a:solidFill>
                  <a:srgbClr val="2B3440"/>
                </a:solidFill>
                <a:latin typeface="Calibri" pitchFamily="34" charset="0"/>
                <a:ea typeface="Calibri" pitchFamily="34" charset="-122"/>
                <a:cs typeface="Calibri" pitchFamily="34" charset="-120"/>
              </a:rPr>
              <a:t>Difference between gate and no gate: 0.002 — nothing.</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84048"/>
            <a:ext cx="11064240" cy="640080"/>
          </a:xfrm>
          <a:prstGeom prst="rect">
            <a:avLst/>
          </a:prstGeom>
          <a:noFill/>
          <a:ln/>
        </p:spPr>
        <p:txBody>
          <a:bodyPr wrap="square" rtlCol="0" anchor="ctr"/>
          <a:lstStyle/>
          <a:p>
            <a:pPr marL="0" indent="0">
              <a:buNone/>
            </a:pPr>
            <a:r>
              <a:rPr lang="en-US" sz="3200" b="1" dirty="0">
                <a:solidFill>
                  <a:srgbClr val="2B3440"/>
                </a:solidFill>
                <a:latin typeface="Cambria" pitchFamily="34" charset="0"/>
                <a:ea typeface="Cambria" pitchFamily="34" charset="-122"/>
                <a:cs typeface="Cambria" pitchFamily="34" charset="-120"/>
              </a:rPr>
              <a:t>Finding 5 &amp; 6 — the differences are just noise</a:t>
            </a:r>
            <a:endParaRPr lang="en-US" sz="3200" dirty="0"/>
          </a:p>
        </p:txBody>
      </p:sp>
      <p:sp>
        <p:nvSpPr>
          <p:cNvPr id="3" name="Shape 1"/>
          <p:cNvSpPr/>
          <p:nvPr/>
        </p:nvSpPr>
        <p:spPr>
          <a:xfrm>
            <a:off x="548640" y="1481328"/>
            <a:ext cx="5486400" cy="2148840"/>
          </a:xfrm>
          <a:prstGeom prst="roundRect">
            <a:avLst>
              <a:gd name="adj" fmla="val 3404"/>
            </a:avLst>
          </a:prstGeom>
          <a:solidFill>
            <a:srgbClr val="FFFFFF"/>
          </a:solidFill>
          <a:ln w="12700">
            <a:solidFill>
              <a:srgbClr val="DDE3E6"/>
            </a:solidFill>
            <a:prstDash val="solid"/>
          </a:ln>
          <a:effectLst>
            <a:outerShdw blurRad="101600" dist="25400" dir="5400000" algn="bl" rotWithShape="0">
              <a:srgbClr val="B9C3C7">
                <a:alpha val="35000"/>
              </a:srgbClr>
            </a:outerShdw>
          </a:effectLst>
        </p:spPr>
        <p:txBody>
          <a:bodyPr/>
          <a:lstStyle/>
          <a:p>
            <a:endParaRPr lang="en-US"/>
          </a:p>
        </p:txBody>
      </p:sp>
      <p:sp>
        <p:nvSpPr>
          <p:cNvPr id="4" name="Shape 2"/>
          <p:cNvSpPr/>
          <p:nvPr/>
        </p:nvSpPr>
        <p:spPr>
          <a:xfrm>
            <a:off x="804672" y="1719072"/>
            <a:ext cx="457200" cy="457200"/>
          </a:xfrm>
          <a:prstGeom prst="ellipse">
            <a:avLst/>
          </a:prstGeom>
          <a:solidFill>
            <a:srgbClr val="C1440E"/>
          </a:solidFill>
          <a:ln w="12700">
            <a:solidFill>
              <a:srgbClr val="C1440E"/>
            </a:solidFill>
            <a:prstDash val="solid"/>
          </a:ln>
        </p:spPr>
        <p:txBody>
          <a:bodyPr/>
          <a:lstStyle/>
          <a:p>
            <a:endParaRPr lang="en-US"/>
          </a:p>
        </p:txBody>
      </p:sp>
      <p:sp>
        <p:nvSpPr>
          <p:cNvPr id="5" name="Text 3"/>
          <p:cNvSpPr/>
          <p:nvPr/>
        </p:nvSpPr>
        <p:spPr>
          <a:xfrm>
            <a:off x="804672" y="171907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6" name="Text 4"/>
          <p:cNvSpPr/>
          <p:nvPr/>
        </p:nvSpPr>
        <p:spPr>
          <a:xfrm>
            <a:off x="1389888" y="1700784"/>
            <a:ext cx="4389120" cy="502920"/>
          </a:xfrm>
          <a:prstGeom prst="rect">
            <a:avLst/>
          </a:prstGeom>
          <a:noFill/>
          <a:ln/>
        </p:spPr>
        <p:txBody>
          <a:bodyPr wrap="square" lIns="0" tIns="0" rIns="0" bIns="0" rtlCol="0" anchor="ctr"/>
          <a:lstStyle/>
          <a:p>
            <a:pPr marL="0" indent="0">
              <a:buNone/>
            </a:pPr>
            <a:r>
              <a:rPr lang="en-US" sz="1700" b="1" dirty="0">
                <a:solidFill>
                  <a:srgbClr val="2B3440"/>
                </a:solidFill>
                <a:latin typeface="Calibri" pitchFamily="34" charset="0"/>
                <a:ea typeface="Calibri" pitchFamily="34" charset="-122"/>
                <a:cs typeface="Calibri" pitchFamily="34" charset="-120"/>
              </a:rPr>
              <a:t>The gaps we measured are not real</a:t>
            </a:r>
            <a:endParaRPr lang="en-US" sz="1700" dirty="0"/>
          </a:p>
        </p:txBody>
      </p:sp>
      <p:sp>
        <p:nvSpPr>
          <p:cNvPr id="7" name="Text 5"/>
          <p:cNvSpPr/>
          <p:nvPr/>
        </p:nvSpPr>
        <p:spPr>
          <a:xfrm>
            <a:off x="1389888" y="2179755"/>
            <a:ext cx="4297680" cy="11887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2B3440"/>
                </a:solidFill>
                <a:latin typeface="Calibri" pitchFamily="34" charset="0"/>
                <a:ea typeface="Calibri" pitchFamily="34" charset="-122"/>
                <a:cs typeface="Calibri" pitchFamily="34" charset="-120"/>
              </a:rPr>
              <a:t>We tested five fusion designs, then repeated each with three random seeds.</a:t>
            </a:r>
            <a:endParaRPr lang="en-US" sz="1350" dirty="0"/>
          </a:p>
          <a:p>
            <a:pPr marL="342900" indent="-342900">
              <a:spcAft>
                <a:spcPts val="600"/>
              </a:spcAft>
              <a:buSzPct val="100000"/>
              <a:buChar char="•"/>
            </a:pPr>
            <a:r>
              <a:rPr lang="en-US" sz="1350" dirty="0">
                <a:solidFill>
                  <a:srgbClr val="2B3440"/>
                </a:solidFill>
                <a:latin typeface="Calibri" pitchFamily="34" charset="0"/>
                <a:ea typeface="Calibri" pitchFamily="34" charset="-122"/>
                <a:cs typeface="Calibri" pitchFamily="34" charset="-120"/>
              </a:rPr>
              <a:t>One design won, then lost, then won again — same data, different seed.</a:t>
            </a:r>
            <a:endParaRPr lang="en-US" sz="1350" dirty="0"/>
          </a:p>
          <a:p>
            <a:pPr marL="342900" indent="-342900">
              <a:spcAft>
                <a:spcPts val="600"/>
              </a:spcAft>
              <a:buSzPct val="100000"/>
              <a:buChar char="•"/>
            </a:pPr>
            <a:r>
              <a:rPr lang="en-US" sz="1350" dirty="0">
                <a:solidFill>
                  <a:srgbClr val="2B3440"/>
                </a:solidFill>
                <a:latin typeface="Calibri" pitchFamily="34" charset="0"/>
                <a:ea typeface="Calibri" pitchFamily="34" charset="-122"/>
                <a:cs typeface="Calibri" pitchFamily="34" charset="-120"/>
              </a:rPr>
              <a:t>Randomness moves the score more than the design does.</a:t>
            </a:r>
            <a:endParaRPr lang="en-US" sz="1350" dirty="0"/>
          </a:p>
        </p:txBody>
      </p:sp>
      <p:sp>
        <p:nvSpPr>
          <p:cNvPr id="8" name="Shape 6"/>
          <p:cNvSpPr/>
          <p:nvPr/>
        </p:nvSpPr>
        <p:spPr>
          <a:xfrm>
            <a:off x="548640" y="3840480"/>
            <a:ext cx="5486400" cy="2148840"/>
          </a:xfrm>
          <a:prstGeom prst="roundRect">
            <a:avLst>
              <a:gd name="adj" fmla="val 3404"/>
            </a:avLst>
          </a:prstGeom>
          <a:solidFill>
            <a:srgbClr val="FFFFFF"/>
          </a:solidFill>
          <a:ln w="12700">
            <a:solidFill>
              <a:srgbClr val="DDE3E6"/>
            </a:solidFill>
            <a:prstDash val="solid"/>
          </a:ln>
          <a:effectLst>
            <a:outerShdw blurRad="101600" dist="25400" dir="5400000" algn="bl" rotWithShape="0">
              <a:srgbClr val="B9C3C7">
                <a:alpha val="35000"/>
              </a:srgbClr>
            </a:outerShdw>
          </a:effectLst>
        </p:spPr>
        <p:txBody>
          <a:bodyPr/>
          <a:lstStyle/>
          <a:p>
            <a:endParaRPr lang="en-US"/>
          </a:p>
        </p:txBody>
      </p:sp>
      <p:sp>
        <p:nvSpPr>
          <p:cNvPr id="9" name="Shape 7"/>
          <p:cNvSpPr/>
          <p:nvPr/>
        </p:nvSpPr>
        <p:spPr>
          <a:xfrm>
            <a:off x="804672" y="4078224"/>
            <a:ext cx="457200" cy="457200"/>
          </a:xfrm>
          <a:prstGeom prst="ellipse">
            <a:avLst/>
          </a:prstGeom>
          <a:solidFill>
            <a:srgbClr val="028090"/>
          </a:solidFill>
          <a:ln w="12700">
            <a:solidFill>
              <a:srgbClr val="028090"/>
            </a:solidFill>
            <a:prstDash val="solid"/>
          </a:ln>
        </p:spPr>
        <p:txBody>
          <a:bodyPr/>
          <a:lstStyle/>
          <a:p>
            <a:endParaRPr lang="en-US"/>
          </a:p>
        </p:txBody>
      </p:sp>
      <p:sp>
        <p:nvSpPr>
          <p:cNvPr id="10" name="Text 8"/>
          <p:cNvSpPr/>
          <p:nvPr/>
        </p:nvSpPr>
        <p:spPr>
          <a:xfrm>
            <a:off x="804672" y="407822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11" name="Text 9"/>
          <p:cNvSpPr/>
          <p:nvPr/>
        </p:nvSpPr>
        <p:spPr>
          <a:xfrm>
            <a:off x="1389888" y="4059936"/>
            <a:ext cx="4389120" cy="502920"/>
          </a:xfrm>
          <a:prstGeom prst="rect">
            <a:avLst/>
          </a:prstGeom>
          <a:noFill/>
          <a:ln/>
        </p:spPr>
        <p:txBody>
          <a:bodyPr wrap="square" lIns="0" tIns="0" rIns="0" bIns="0" rtlCol="0" anchor="ctr"/>
          <a:lstStyle/>
          <a:p>
            <a:pPr marL="0" indent="0">
              <a:buNone/>
            </a:pPr>
            <a:r>
              <a:rPr lang="en-US" sz="1700" b="1" dirty="0">
                <a:solidFill>
                  <a:srgbClr val="2B3440"/>
                </a:solidFill>
                <a:latin typeface="Calibri" pitchFamily="34" charset="0"/>
                <a:ea typeface="Calibri" pitchFamily="34" charset="-122"/>
                <a:cs typeface="Calibri" pitchFamily="34" charset="-120"/>
              </a:rPr>
              <a:t>The cause is the data, not the design</a:t>
            </a:r>
            <a:endParaRPr lang="en-US" sz="1700" dirty="0"/>
          </a:p>
        </p:txBody>
      </p:sp>
      <p:sp>
        <p:nvSpPr>
          <p:cNvPr id="12" name="Text 10"/>
          <p:cNvSpPr/>
          <p:nvPr/>
        </p:nvSpPr>
        <p:spPr>
          <a:xfrm>
            <a:off x="1389888" y="4626864"/>
            <a:ext cx="4297680" cy="11887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2B3440"/>
                </a:solidFill>
                <a:latin typeface="Calibri" pitchFamily="34" charset="0"/>
                <a:ea typeface="Calibri" pitchFamily="34" charset="-122"/>
                <a:cs typeface="Calibri" pitchFamily="34" charset="-120"/>
              </a:rPr>
              <a:t>Some attack types appear only a handful of times in this graph.</a:t>
            </a:r>
            <a:endParaRPr lang="en-US" sz="1350" dirty="0"/>
          </a:p>
          <a:p>
            <a:pPr marL="342900" indent="-342900">
              <a:spcAft>
                <a:spcPts val="600"/>
              </a:spcAft>
              <a:buSzPct val="100000"/>
              <a:buChar char="•"/>
            </a:pPr>
            <a:r>
              <a:rPr lang="en-US" sz="1350" dirty="0">
                <a:solidFill>
                  <a:srgbClr val="2B3440"/>
                </a:solidFill>
                <a:latin typeface="Calibri" pitchFamily="34" charset="0"/>
                <a:ea typeface="Calibri" pitchFamily="34" charset="-122"/>
                <a:cs typeface="Calibri" pitchFamily="34" charset="-120"/>
              </a:rPr>
              <a:t>ransomware 3 edges · dos 4 · xss 12 · scanning 13 · backdoor 16.</a:t>
            </a:r>
            <a:endParaRPr lang="en-US" sz="1350" dirty="0"/>
          </a:p>
          <a:p>
            <a:pPr marL="342900" indent="-342900">
              <a:spcAft>
                <a:spcPts val="600"/>
              </a:spcAft>
              <a:buSzPct val="100000"/>
              <a:buChar char="•"/>
            </a:pPr>
            <a:r>
              <a:rPr lang="en-US" sz="1350" dirty="0">
                <a:solidFill>
                  <a:srgbClr val="2B3440"/>
                </a:solidFill>
                <a:latin typeface="Calibri" pitchFamily="34" charset="0"/>
                <a:ea typeface="Calibri" pitchFamily="34" charset="-122"/>
                <a:cs typeface="Calibri" pitchFamily="34" charset="-120"/>
              </a:rPr>
              <a:t>One wrong prediction swings the whole score.</a:t>
            </a:r>
            <a:endParaRPr lang="en-US" sz="1350" dirty="0"/>
          </a:p>
        </p:txBody>
      </p:sp>
      <p:graphicFrame>
        <p:nvGraphicFramePr>
          <p:cNvPr id="13" name="Chart 0"/>
          <p:cNvGraphicFramePr/>
          <p:nvPr/>
        </p:nvGraphicFramePr>
        <p:xfrm>
          <a:off x="6355080" y="1600200"/>
          <a:ext cx="5257800" cy="3246120"/>
        </p:xfrm>
        <a:graphic>
          <a:graphicData uri="http://schemas.openxmlformats.org/drawingml/2006/chart">
            <c:chart xmlns:c="http://schemas.openxmlformats.org/drawingml/2006/chart" xmlns:r="http://schemas.openxmlformats.org/officeDocument/2006/relationships" r:id="rId3"/>
          </a:graphicData>
        </a:graphic>
      </p:graphicFrame>
      <p:sp>
        <p:nvSpPr>
          <p:cNvPr id="14" name="Shape 11"/>
          <p:cNvSpPr/>
          <p:nvPr/>
        </p:nvSpPr>
        <p:spPr>
          <a:xfrm>
            <a:off x="6355080" y="5029200"/>
            <a:ext cx="5257800" cy="960120"/>
          </a:xfrm>
          <a:prstGeom prst="roundRect">
            <a:avLst>
              <a:gd name="adj" fmla="val 7619"/>
            </a:avLst>
          </a:prstGeom>
          <a:solidFill>
            <a:srgbClr val="FDECE4"/>
          </a:solidFill>
          <a:ln w="12700">
            <a:solidFill>
              <a:srgbClr val="C1440E"/>
            </a:solidFill>
            <a:prstDash val="solid"/>
          </a:ln>
        </p:spPr>
        <p:txBody>
          <a:bodyPr/>
          <a:lstStyle/>
          <a:p>
            <a:endParaRPr lang="en-US"/>
          </a:p>
        </p:txBody>
      </p:sp>
      <p:sp>
        <p:nvSpPr>
          <p:cNvPr id="15" name="Text 12"/>
          <p:cNvSpPr/>
          <p:nvPr/>
        </p:nvSpPr>
        <p:spPr>
          <a:xfrm>
            <a:off x="6537960" y="5029200"/>
            <a:ext cx="4892040" cy="960120"/>
          </a:xfrm>
          <a:prstGeom prst="rect">
            <a:avLst/>
          </a:prstGeom>
          <a:noFill/>
          <a:ln/>
        </p:spPr>
        <p:txBody>
          <a:bodyPr wrap="square" rtlCol="0" anchor="ctr"/>
          <a:lstStyle/>
          <a:p>
            <a:pPr marL="0" indent="0">
              <a:buNone/>
            </a:pPr>
            <a:r>
              <a:rPr lang="en-US" sz="1300" b="1" dirty="0">
                <a:solidFill>
                  <a:srgbClr val="2B3440"/>
                </a:solidFill>
                <a:latin typeface="Calibri" pitchFamily="34" charset="0"/>
                <a:ea typeface="Calibri" pitchFamily="34" charset="-122"/>
                <a:cs typeface="Calibri" pitchFamily="34" charset="-120"/>
              </a:rPr>
              <a:t>Swing across seeds: 0.114.   Best gap between methods: 0.048.</a:t>
            </a:r>
            <a:endParaRPr lang="en-US" sz="1300" dirty="0"/>
          </a:p>
          <a:p>
            <a:pPr marL="0" indent="0">
              <a:buNone/>
            </a:pPr>
            <a:r>
              <a:rPr lang="en-US" sz="1300" b="1" dirty="0">
                <a:solidFill>
                  <a:srgbClr val="2B3440"/>
                </a:solidFill>
                <a:latin typeface="Calibri" pitchFamily="34" charset="0"/>
                <a:ea typeface="Calibri" pitchFamily="34" charset="-122"/>
                <a:cs typeface="Calibri" pitchFamily="34" charset="-120"/>
              </a:rPr>
              <a:t>The noise is bigger than the effect.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F2A33"/>
        </a:solidFill>
        <a:effectLst/>
      </p:bgPr>
    </p:bg>
    <p:spTree>
      <p:nvGrpSpPr>
        <p:cNvPr id="1" name=""/>
        <p:cNvGrpSpPr/>
        <p:nvPr/>
      </p:nvGrpSpPr>
      <p:grpSpPr>
        <a:xfrm>
          <a:off x="0" y="0"/>
          <a:ext cx="0" cy="0"/>
          <a:chOff x="0" y="0"/>
          <a:chExt cx="0" cy="0"/>
        </a:xfrm>
      </p:grpSpPr>
      <p:sp>
        <p:nvSpPr>
          <p:cNvPr id="2" name="Text 0"/>
          <p:cNvSpPr/>
          <p:nvPr/>
        </p:nvSpPr>
        <p:spPr>
          <a:xfrm>
            <a:off x="640080" y="457200"/>
            <a:ext cx="10972800" cy="68580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Conclusion</a:t>
            </a:r>
            <a:endParaRPr lang="en-US" sz="3200" dirty="0"/>
          </a:p>
        </p:txBody>
      </p:sp>
      <p:sp>
        <p:nvSpPr>
          <p:cNvPr id="3" name="Shape 1"/>
          <p:cNvSpPr/>
          <p:nvPr/>
        </p:nvSpPr>
        <p:spPr>
          <a:xfrm>
            <a:off x="640080" y="1280160"/>
            <a:ext cx="10972800" cy="1234440"/>
          </a:xfrm>
          <a:prstGeom prst="roundRect">
            <a:avLst>
              <a:gd name="adj" fmla="val 7407"/>
            </a:avLst>
          </a:prstGeom>
          <a:solidFill>
            <a:srgbClr val="2C3D48"/>
          </a:solidFill>
          <a:ln w="12700">
            <a:solidFill>
              <a:srgbClr val="44575F"/>
            </a:solidFill>
            <a:prstDash val="solid"/>
          </a:ln>
        </p:spPr>
        <p:txBody>
          <a:bodyPr/>
          <a:lstStyle/>
          <a:p>
            <a:endParaRPr lang="en-US"/>
          </a:p>
        </p:txBody>
      </p:sp>
      <p:sp>
        <p:nvSpPr>
          <p:cNvPr id="4" name="Text 2"/>
          <p:cNvSpPr/>
          <p:nvPr/>
        </p:nvSpPr>
        <p:spPr>
          <a:xfrm>
            <a:off x="914400" y="1280160"/>
            <a:ext cx="10424160" cy="1234440"/>
          </a:xfrm>
          <a:prstGeom prst="rect">
            <a:avLst/>
          </a:prstGeom>
          <a:noFill/>
          <a:ln/>
        </p:spPr>
        <p:txBody>
          <a:bodyPr wrap="square" rtlCol="0" anchor="ctr"/>
          <a:lstStyle/>
          <a:p>
            <a:pPr marL="0" indent="0">
              <a:buNone/>
            </a:pPr>
            <a:r>
              <a:rPr lang="en-US" sz="1500" dirty="0">
                <a:solidFill>
                  <a:srgbClr val="E3ECEE"/>
                </a:solidFill>
                <a:latin typeface="Calibri" pitchFamily="34" charset="0"/>
                <a:ea typeface="Calibri" pitchFamily="34" charset="-122"/>
                <a:cs typeface="Calibri" pitchFamily="34" charset="-120"/>
              </a:rPr>
              <a:t>We built five fusion designs from the literature and tested them on the ToN-IoT aggregated graph. None of them can be told apart, because random variation on this graph is larger than the difference between the methods. The limiting factor is the strength of the structural branch, not the fusion mechanism.</a:t>
            </a:r>
            <a:endParaRPr lang="en-US" sz="1500" dirty="0"/>
          </a:p>
        </p:txBody>
      </p:sp>
      <p:sp>
        <p:nvSpPr>
          <p:cNvPr id="5" name="Shape 3"/>
          <p:cNvSpPr/>
          <p:nvPr/>
        </p:nvSpPr>
        <p:spPr>
          <a:xfrm>
            <a:off x="640080" y="2880360"/>
            <a:ext cx="3474720" cy="1965960"/>
          </a:xfrm>
          <a:prstGeom prst="roundRect">
            <a:avLst>
              <a:gd name="adj" fmla="val 3721"/>
            </a:avLst>
          </a:prstGeom>
          <a:solidFill>
            <a:srgbClr val="354753"/>
          </a:solidFill>
          <a:ln w="12700">
            <a:solidFill>
              <a:srgbClr val="4C616B"/>
            </a:solidFill>
            <a:prstDash val="solid"/>
          </a:ln>
        </p:spPr>
        <p:txBody>
          <a:bodyPr/>
          <a:lstStyle/>
          <a:p>
            <a:endParaRPr lang="en-US"/>
          </a:p>
        </p:txBody>
      </p:sp>
      <p:sp>
        <p:nvSpPr>
          <p:cNvPr id="6" name="Shape 4"/>
          <p:cNvSpPr/>
          <p:nvPr/>
        </p:nvSpPr>
        <p:spPr>
          <a:xfrm>
            <a:off x="896112" y="3127248"/>
            <a:ext cx="420624" cy="420624"/>
          </a:xfrm>
          <a:prstGeom prst="ellipse">
            <a:avLst/>
          </a:prstGeom>
          <a:solidFill>
            <a:srgbClr val="00A896"/>
          </a:solidFill>
          <a:ln w="12700">
            <a:solidFill>
              <a:srgbClr val="00A896"/>
            </a:solidFill>
            <a:prstDash val="solid"/>
          </a:ln>
        </p:spPr>
        <p:txBody>
          <a:bodyPr/>
          <a:lstStyle/>
          <a:p>
            <a:endParaRPr lang="en-US"/>
          </a:p>
        </p:txBody>
      </p:sp>
      <p:sp>
        <p:nvSpPr>
          <p:cNvPr id="7" name="Text 5"/>
          <p:cNvSpPr/>
          <p:nvPr/>
        </p:nvSpPr>
        <p:spPr>
          <a:xfrm>
            <a:off x="896112" y="3127248"/>
            <a:ext cx="420624" cy="420624"/>
          </a:xfrm>
          <a:prstGeom prst="rect">
            <a:avLst/>
          </a:prstGeom>
          <a:noFill/>
          <a:ln/>
        </p:spPr>
        <p:txBody>
          <a:bodyPr wrap="square" lIns="0" tIns="0" rIns="0" bIns="0" rtlCol="0" anchor="ctr"/>
          <a:lstStyle/>
          <a:p>
            <a:pPr marL="0" indent="0" algn="ctr">
              <a:buNone/>
            </a:pPr>
            <a:r>
              <a:rPr lang="en-US" sz="1400" b="1" dirty="0">
                <a:solidFill>
                  <a:srgbClr val="10262E"/>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444752" y="3108960"/>
            <a:ext cx="2468880" cy="457200"/>
          </a:xfrm>
          <a:prstGeom prst="rect">
            <a:avLst/>
          </a:prstGeom>
          <a:noFill/>
          <a:ln/>
        </p:spPr>
        <p:txBody>
          <a:bodyPr wrap="square" lIns="0" tIns="0" rIns="0" bIns="0" rtlCol="0" anchor="ctr"/>
          <a:lstStyle/>
          <a:p>
            <a:pPr marL="0" indent="0">
              <a:buNone/>
            </a:pPr>
            <a:r>
              <a:rPr lang="en-US" sz="1450" b="1" dirty="0">
                <a:solidFill>
                  <a:srgbClr val="9FD9D6"/>
                </a:solidFill>
                <a:latin typeface="Calibri" pitchFamily="34" charset="0"/>
                <a:ea typeface="Calibri" pitchFamily="34" charset="-122"/>
                <a:cs typeface="Calibri" pitchFamily="34" charset="-120"/>
              </a:rPr>
              <a:t>Why it still counts</a:t>
            </a:r>
            <a:endParaRPr lang="en-US" sz="1450" dirty="0"/>
          </a:p>
        </p:txBody>
      </p:sp>
      <p:sp>
        <p:nvSpPr>
          <p:cNvPr id="9" name="Text 7"/>
          <p:cNvSpPr/>
          <p:nvPr/>
        </p:nvSpPr>
        <p:spPr>
          <a:xfrm>
            <a:off x="914400" y="3703320"/>
            <a:ext cx="2926080" cy="960120"/>
          </a:xfrm>
          <a:prstGeom prst="rect">
            <a:avLst/>
          </a:prstGeom>
          <a:noFill/>
          <a:ln/>
        </p:spPr>
        <p:txBody>
          <a:bodyPr wrap="square" lIns="0" tIns="0" rIns="0" bIns="0" rtlCol="0" anchor="t"/>
          <a:lstStyle/>
          <a:p>
            <a:pPr marL="0" indent="0">
              <a:buNone/>
            </a:pPr>
            <a:r>
              <a:rPr lang="en-US" sz="1300" dirty="0">
                <a:solidFill>
                  <a:srgbClr val="E3ECEE"/>
                </a:solidFill>
                <a:latin typeface="Calibri" pitchFamily="34" charset="0"/>
                <a:ea typeface="Calibri" pitchFamily="34" charset="-122"/>
                <a:cs typeface="Calibri" pitchFamily="34" charset="-120"/>
              </a:rPr>
              <a:t>We now know the gate adds nothing — we could not have known without testing.</a:t>
            </a:r>
            <a:endParaRPr lang="en-US" sz="1300" dirty="0"/>
          </a:p>
        </p:txBody>
      </p:sp>
      <p:sp>
        <p:nvSpPr>
          <p:cNvPr id="10" name="Shape 8"/>
          <p:cNvSpPr/>
          <p:nvPr/>
        </p:nvSpPr>
        <p:spPr>
          <a:xfrm>
            <a:off x="4343400" y="2880360"/>
            <a:ext cx="3474720" cy="1965960"/>
          </a:xfrm>
          <a:prstGeom prst="roundRect">
            <a:avLst>
              <a:gd name="adj" fmla="val 3721"/>
            </a:avLst>
          </a:prstGeom>
          <a:solidFill>
            <a:srgbClr val="354753"/>
          </a:solidFill>
          <a:ln w="12700">
            <a:solidFill>
              <a:srgbClr val="4C616B"/>
            </a:solidFill>
            <a:prstDash val="solid"/>
          </a:ln>
        </p:spPr>
        <p:txBody>
          <a:bodyPr/>
          <a:lstStyle/>
          <a:p>
            <a:endParaRPr lang="en-US"/>
          </a:p>
        </p:txBody>
      </p:sp>
      <p:sp>
        <p:nvSpPr>
          <p:cNvPr id="11" name="Shape 9"/>
          <p:cNvSpPr/>
          <p:nvPr/>
        </p:nvSpPr>
        <p:spPr>
          <a:xfrm>
            <a:off x="4599432" y="3127248"/>
            <a:ext cx="420624" cy="420624"/>
          </a:xfrm>
          <a:prstGeom prst="ellipse">
            <a:avLst/>
          </a:prstGeom>
          <a:solidFill>
            <a:srgbClr val="00A896"/>
          </a:solidFill>
          <a:ln w="12700">
            <a:solidFill>
              <a:srgbClr val="00A896"/>
            </a:solidFill>
            <a:prstDash val="solid"/>
          </a:ln>
        </p:spPr>
        <p:txBody>
          <a:bodyPr/>
          <a:lstStyle/>
          <a:p>
            <a:endParaRPr lang="en-US"/>
          </a:p>
        </p:txBody>
      </p:sp>
      <p:sp>
        <p:nvSpPr>
          <p:cNvPr id="12" name="Text 10"/>
          <p:cNvSpPr/>
          <p:nvPr/>
        </p:nvSpPr>
        <p:spPr>
          <a:xfrm>
            <a:off x="4599432" y="3127248"/>
            <a:ext cx="420624" cy="420624"/>
          </a:xfrm>
          <a:prstGeom prst="rect">
            <a:avLst/>
          </a:prstGeom>
          <a:noFill/>
          <a:ln/>
        </p:spPr>
        <p:txBody>
          <a:bodyPr wrap="square" lIns="0" tIns="0" rIns="0" bIns="0" rtlCol="0" anchor="ctr"/>
          <a:lstStyle/>
          <a:p>
            <a:pPr marL="0" indent="0" algn="ctr">
              <a:buNone/>
            </a:pPr>
            <a:r>
              <a:rPr lang="en-US" sz="1400" b="1" dirty="0">
                <a:solidFill>
                  <a:srgbClr val="10262E"/>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5148072" y="3108960"/>
            <a:ext cx="2468880" cy="457200"/>
          </a:xfrm>
          <a:prstGeom prst="rect">
            <a:avLst/>
          </a:prstGeom>
          <a:noFill/>
          <a:ln/>
        </p:spPr>
        <p:txBody>
          <a:bodyPr wrap="square" lIns="0" tIns="0" rIns="0" bIns="0" rtlCol="0" anchor="ctr"/>
          <a:lstStyle/>
          <a:p>
            <a:pPr marL="0" indent="0">
              <a:buNone/>
            </a:pPr>
            <a:r>
              <a:rPr lang="en-US" sz="1450" b="1" dirty="0">
                <a:solidFill>
                  <a:srgbClr val="9FD9D6"/>
                </a:solidFill>
                <a:latin typeface="Calibri" pitchFamily="34" charset="0"/>
                <a:ea typeface="Calibri" pitchFamily="34" charset="-122"/>
                <a:cs typeface="Calibri" pitchFamily="34" charset="-120"/>
              </a:rPr>
              <a:t>What it protects us from</a:t>
            </a:r>
            <a:endParaRPr lang="en-US" sz="1450" dirty="0"/>
          </a:p>
        </p:txBody>
      </p:sp>
      <p:sp>
        <p:nvSpPr>
          <p:cNvPr id="14" name="Text 12"/>
          <p:cNvSpPr/>
          <p:nvPr/>
        </p:nvSpPr>
        <p:spPr>
          <a:xfrm>
            <a:off x="4617720" y="3703320"/>
            <a:ext cx="2926080" cy="960120"/>
          </a:xfrm>
          <a:prstGeom prst="rect">
            <a:avLst/>
          </a:prstGeom>
          <a:noFill/>
          <a:ln/>
        </p:spPr>
        <p:txBody>
          <a:bodyPr wrap="square" lIns="0" tIns="0" rIns="0" bIns="0" rtlCol="0" anchor="t"/>
          <a:lstStyle/>
          <a:p>
            <a:pPr marL="0" indent="0">
              <a:buNone/>
            </a:pPr>
            <a:r>
              <a:rPr lang="en-US" sz="1300" dirty="0">
                <a:solidFill>
                  <a:srgbClr val="E3ECEE"/>
                </a:solidFill>
                <a:latin typeface="Calibri" pitchFamily="34" charset="0"/>
                <a:ea typeface="Calibri" pitchFamily="34" charset="-122"/>
                <a:cs typeface="Calibri" pitchFamily="34" charset="-120"/>
              </a:rPr>
              <a:t>Any improvement reported on this graph would not be trustworthy.</a:t>
            </a:r>
            <a:endParaRPr lang="en-US" sz="1300" dirty="0"/>
          </a:p>
        </p:txBody>
      </p:sp>
      <p:sp>
        <p:nvSpPr>
          <p:cNvPr id="15" name="Shape 13"/>
          <p:cNvSpPr/>
          <p:nvPr/>
        </p:nvSpPr>
        <p:spPr>
          <a:xfrm>
            <a:off x="8046720" y="2880360"/>
            <a:ext cx="3474720" cy="1965960"/>
          </a:xfrm>
          <a:prstGeom prst="roundRect">
            <a:avLst>
              <a:gd name="adj" fmla="val 3721"/>
            </a:avLst>
          </a:prstGeom>
          <a:solidFill>
            <a:srgbClr val="354753"/>
          </a:solidFill>
          <a:ln w="12700">
            <a:solidFill>
              <a:srgbClr val="4C616B"/>
            </a:solidFill>
            <a:prstDash val="solid"/>
          </a:ln>
        </p:spPr>
        <p:txBody>
          <a:bodyPr/>
          <a:lstStyle/>
          <a:p>
            <a:endParaRPr lang="en-US"/>
          </a:p>
        </p:txBody>
      </p:sp>
      <p:sp>
        <p:nvSpPr>
          <p:cNvPr id="16" name="Shape 14"/>
          <p:cNvSpPr/>
          <p:nvPr/>
        </p:nvSpPr>
        <p:spPr>
          <a:xfrm>
            <a:off x="8302752" y="3127248"/>
            <a:ext cx="420624" cy="420624"/>
          </a:xfrm>
          <a:prstGeom prst="ellipse">
            <a:avLst/>
          </a:prstGeom>
          <a:solidFill>
            <a:srgbClr val="00A896"/>
          </a:solidFill>
          <a:ln w="12700">
            <a:solidFill>
              <a:srgbClr val="00A896"/>
            </a:solidFill>
            <a:prstDash val="solid"/>
          </a:ln>
        </p:spPr>
        <p:txBody>
          <a:bodyPr/>
          <a:lstStyle/>
          <a:p>
            <a:endParaRPr lang="en-US"/>
          </a:p>
        </p:txBody>
      </p:sp>
      <p:sp>
        <p:nvSpPr>
          <p:cNvPr id="17" name="Text 15"/>
          <p:cNvSpPr/>
          <p:nvPr/>
        </p:nvSpPr>
        <p:spPr>
          <a:xfrm>
            <a:off x="8302752" y="3127248"/>
            <a:ext cx="420624" cy="420624"/>
          </a:xfrm>
          <a:prstGeom prst="rect">
            <a:avLst/>
          </a:prstGeom>
          <a:noFill/>
          <a:ln/>
        </p:spPr>
        <p:txBody>
          <a:bodyPr wrap="square" lIns="0" tIns="0" rIns="0" bIns="0" rtlCol="0" anchor="ctr"/>
          <a:lstStyle/>
          <a:p>
            <a:pPr marL="0" indent="0" algn="ctr">
              <a:buNone/>
            </a:pPr>
            <a:r>
              <a:rPr lang="en-US" sz="1400" b="1" dirty="0">
                <a:solidFill>
                  <a:srgbClr val="10262E"/>
                </a:solidFill>
                <a:latin typeface="Calibri" pitchFamily="34" charset="0"/>
                <a:ea typeface="Calibri" pitchFamily="34" charset="-122"/>
                <a:cs typeface="Calibri" pitchFamily="34" charset="-120"/>
              </a:rPr>
              <a:t>3</a:t>
            </a:r>
            <a:endParaRPr lang="en-US" sz="1400" dirty="0"/>
          </a:p>
        </p:txBody>
      </p:sp>
      <p:sp>
        <p:nvSpPr>
          <p:cNvPr id="18" name="Text 16"/>
          <p:cNvSpPr/>
          <p:nvPr/>
        </p:nvSpPr>
        <p:spPr>
          <a:xfrm>
            <a:off x="8851392" y="3108960"/>
            <a:ext cx="2468880" cy="457200"/>
          </a:xfrm>
          <a:prstGeom prst="rect">
            <a:avLst/>
          </a:prstGeom>
          <a:noFill/>
          <a:ln/>
        </p:spPr>
        <p:txBody>
          <a:bodyPr wrap="square" lIns="0" tIns="0" rIns="0" bIns="0" rtlCol="0" anchor="ctr"/>
          <a:lstStyle/>
          <a:p>
            <a:pPr marL="0" indent="0">
              <a:buNone/>
            </a:pPr>
            <a:r>
              <a:rPr lang="en-US" sz="1450" b="1" dirty="0">
                <a:solidFill>
                  <a:srgbClr val="9FD9D6"/>
                </a:solidFill>
                <a:latin typeface="Calibri" pitchFamily="34" charset="0"/>
                <a:ea typeface="Calibri" pitchFamily="34" charset="-122"/>
                <a:cs typeface="Calibri" pitchFamily="34" charset="-120"/>
              </a:rPr>
              <a:t>Where effort goes next</a:t>
            </a:r>
            <a:endParaRPr lang="en-US" sz="1450" dirty="0"/>
          </a:p>
        </p:txBody>
      </p:sp>
      <p:sp>
        <p:nvSpPr>
          <p:cNvPr id="19" name="Text 17"/>
          <p:cNvSpPr/>
          <p:nvPr/>
        </p:nvSpPr>
        <p:spPr>
          <a:xfrm>
            <a:off x="8321040" y="3703320"/>
            <a:ext cx="2926080" cy="960120"/>
          </a:xfrm>
          <a:prstGeom prst="rect">
            <a:avLst/>
          </a:prstGeom>
          <a:noFill/>
          <a:ln/>
        </p:spPr>
        <p:txBody>
          <a:bodyPr wrap="square" lIns="0" tIns="0" rIns="0" bIns="0" rtlCol="0" anchor="t"/>
          <a:lstStyle/>
          <a:p>
            <a:pPr marL="0" indent="0">
              <a:buNone/>
            </a:pPr>
            <a:r>
              <a:rPr lang="en-US" sz="1300" dirty="0">
                <a:solidFill>
                  <a:srgbClr val="E3ECEE"/>
                </a:solidFill>
                <a:latin typeface="Calibri" pitchFamily="34" charset="0"/>
                <a:ea typeface="Calibri" pitchFamily="34" charset="-122"/>
                <a:cs typeface="Calibri" pitchFamily="34" charset="-120"/>
              </a:rPr>
              <a:t>Make the graph branch see more, so the fusion has something worth weighing.</a:t>
            </a:r>
            <a:endParaRPr lang="en-US" sz="1300" dirty="0"/>
          </a:p>
        </p:txBody>
      </p:sp>
      <p:sp>
        <p:nvSpPr>
          <p:cNvPr id="20" name="Text 18"/>
          <p:cNvSpPr/>
          <p:nvPr/>
        </p:nvSpPr>
        <p:spPr>
          <a:xfrm>
            <a:off x="640080" y="5212080"/>
            <a:ext cx="10972800" cy="822960"/>
          </a:xfrm>
          <a:prstGeom prst="rect">
            <a:avLst/>
          </a:prstGeom>
          <a:noFill/>
          <a:ln/>
        </p:spPr>
        <p:txBody>
          <a:bodyPr wrap="square" rtlCol="0" anchor="ctr"/>
          <a:lstStyle/>
          <a:p>
            <a:pPr marL="0" indent="0">
              <a:buNone/>
            </a:pPr>
            <a:r>
              <a:rPr lang="en-US" sz="1350" i="1" dirty="0">
                <a:solidFill>
                  <a:srgbClr val="9AAEB6"/>
                </a:solidFill>
                <a:latin typeface="Calibri" pitchFamily="34" charset="0"/>
                <a:ea typeface="Calibri" pitchFamily="34" charset="-122"/>
                <a:cs typeface="Calibri" pitchFamily="34" charset="-120"/>
              </a:rPr>
              <a:t>Honest note: two of our predictions were wrong — the alignment loss hurt, and the self-attention win was seed luck. Both are recorded as measured. A negative result is only embarrassing when you find it after publishing.</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27A6D2AF-B0F0-6944-BA03-8B6AAC5C1187}">
  <we:reference id="WA200010001" version="1.0.0.1" store="Omex" storeType="OMEX"/>
  <we:alternateReferences>
    <we:reference id="WA200010001" version="1.0.0.1" store="WA200010001" storeType="OMEX"/>
  </we:alternateReferences>
  <we:properties>
    <we:property name="claude.fileId" value="&quot;c545eed0-05b6-404f-b23b-a94cf61b7495&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907</TotalTime>
  <Words>840</Words>
  <Application>Microsoft Macintosh PowerPoint</Application>
  <PresentationFormat>Widescreen</PresentationFormat>
  <Paragraphs>89</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Ali Alzein</cp:lastModifiedBy>
  <cp:revision>4</cp:revision>
  <dcterms:created xsi:type="dcterms:W3CDTF">2026-08-16T22:33:48Z</dcterms:created>
  <dcterms:modified xsi:type="dcterms:W3CDTF">2026-08-17T13:56:58Z</dcterms:modified>
</cp:coreProperties>
</file>