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21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623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371600"/>
            <a:ext cx="1156716" cy="368046"/>
          </a:xfrm>
          <a:prstGeom prst="line">
            <a:avLst/>
          </a:prstGeom>
          <a:noFill/>
          <a:ln w="15875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1371600"/>
            <a:ext cx="525780" cy="1209294"/>
          </a:xfrm>
          <a:prstGeom prst="line">
            <a:avLst/>
          </a:prstGeom>
          <a:noFill/>
          <a:ln w="15875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849356" y="1739646"/>
            <a:ext cx="736092" cy="630936"/>
          </a:xfrm>
          <a:prstGeom prst="line">
            <a:avLst/>
          </a:prstGeom>
          <a:noFill/>
          <a:ln w="15875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V="1">
            <a:off x="9692640" y="793242"/>
            <a:ext cx="998982" cy="578358"/>
          </a:xfrm>
          <a:prstGeom prst="line">
            <a:avLst/>
          </a:prstGeom>
          <a:noFill/>
          <a:ln w="15875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691622" y="793242"/>
            <a:ext cx="1209294" cy="473202"/>
          </a:xfrm>
          <a:prstGeom prst="line">
            <a:avLst/>
          </a:prstGeom>
          <a:noFill/>
          <a:ln w="15875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10849356" y="1266444"/>
            <a:ext cx="1051560" cy="473202"/>
          </a:xfrm>
          <a:prstGeom prst="line">
            <a:avLst/>
          </a:prstGeom>
          <a:noFill/>
          <a:ln w="15875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8956548" y="1371600"/>
            <a:ext cx="736092" cy="630936"/>
          </a:xfrm>
          <a:prstGeom prst="line">
            <a:avLst/>
          </a:prstGeom>
          <a:noFill/>
          <a:ln w="15875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10344" y="1289304"/>
            <a:ext cx="164592" cy="164592"/>
          </a:xfrm>
          <a:prstGeom prst="ellipse">
            <a:avLst/>
          </a:prstGeom>
          <a:solidFill>
            <a:srgbClr val="CFE3EE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94492" y="1684782"/>
            <a:ext cx="109728" cy="109728"/>
          </a:xfrm>
          <a:prstGeom prst="ellipse">
            <a:avLst/>
          </a:prstGeom>
          <a:solidFill>
            <a:srgbClr val="CFE3EE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163556" y="2526030"/>
            <a:ext cx="109728" cy="109728"/>
          </a:xfrm>
          <a:prstGeom prst="ellipse">
            <a:avLst/>
          </a:prstGeom>
          <a:solidFill>
            <a:srgbClr val="CFE3EE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530584" y="2315718"/>
            <a:ext cx="109728" cy="109728"/>
          </a:xfrm>
          <a:prstGeom prst="ellipse">
            <a:avLst/>
          </a:prstGeom>
          <a:solidFill>
            <a:srgbClr val="CFE3EE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36758" y="738378"/>
            <a:ext cx="109728" cy="109728"/>
          </a:xfrm>
          <a:prstGeom prst="ellipse">
            <a:avLst/>
          </a:prstGeom>
          <a:solidFill>
            <a:srgbClr val="CFE3EE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846052" y="1211580"/>
            <a:ext cx="109728" cy="109728"/>
          </a:xfrm>
          <a:prstGeom prst="ellipse">
            <a:avLst/>
          </a:prstGeom>
          <a:solidFill>
            <a:srgbClr val="CFE3EE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01684" y="1947672"/>
            <a:ext cx="109728" cy="109728"/>
          </a:xfrm>
          <a:prstGeom prst="ellipse">
            <a:avLst/>
          </a:prstGeom>
          <a:solidFill>
            <a:srgbClr val="CFE3EE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80160" y="5486400"/>
            <a:ext cx="704088" cy="224028"/>
          </a:xfrm>
          <a:prstGeom prst="line">
            <a:avLst/>
          </a:prstGeom>
          <a:noFill/>
          <a:ln w="15875">
            <a:solidFill>
              <a:srgbClr val="1C729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80160" y="5486400"/>
            <a:ext cx="320040" cy="736092"/>
          </a:xfrm>
          <a:prstGeom prst="line">
            <a:avLst/>
          </a:prstGeom>
          <a:noFill/>
          <a:ln w="15875">
            <a:solidFill>
              <a:srgbClr val="1C729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984248" y="5710428"/>
            <a:ext cx="448056" cy="384048"/>
          </a:xfrm>
          <a:prstGeom prst="line">
            <a:avLst/>
          </a:prstGeom>
          <a:noFill/>
          <a:ln w="15875">
            <a:solidFill>
              <a:srgbClr val="1C729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V="1">
            <a:off x="1280160" y="5134356"/>
            <a:ext cx="608076" cy="352044"/>
          </a:xfrm>
          <a:prstGeom prst="line">
            <a:avLst/>
          </a:prstGeom>
          <a:noFill/>
          <a:ln w="15875">
            <a:solidFill>
              <a:srgbClr val="1C729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88236" y="5134356"/>
            <a:ext cx="736092" cy="288036"/>
          </a:xfrm>
          <a:prstGeom prst="line">
            <a:avLst/>
          </a:prstGeom>
          <a:noFill/>
          <a:ln w="15875">
            <a:solidFill>
              <a:srgbClr val="1C729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1984248" y="5422392"/>
            <a:ext cx="640080" cy="288036"/>
          </a:xfrm>
          <a:prstGeom prst="line">
            <a:avLst/>
          </a:prstGeom>
          <a:noFill/>
          <a:ln w="15875">
            <a:solidFill>
              <a:srgbClr val="1C729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H="1">
            <a:off x="832104" y="5486400"/>
            <a:ext cx="448056" cy="384048"/>
          </a:xfrm>
          <a:prstGeom prst="line">
            <a:avLst/>
          </a:prstGeom>
          <a:noFill/>
          <a:ln w="15875">
            <a:solidFill>
              <a:srgbClr val="1C729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97864" y="5404104"/>
            <a:ext cx="164592" cy="164592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929384" y="5655564"/>
            <a:ext cx="109728" cy="109728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45336" y="6167628"/>
            <a:ext cx="109728" cy="109728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377440" y="6039612"/>
            <a:ext cx="109728" cy="109728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33372" y="5079492"/>
            <a:ext cx="109728" cy="109728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9464" y="5367528"/>
            <a:ext cx="109728" cy="109728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7240" y="5815584"/>
            <a:ext cx="109728" cy="109728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GENERALIZATION CANDIDATES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822960" y="315468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GNN Structural Encoding + LLM Semantic Encoding + AGAF Fusion Beyond Network Security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22960" y="3886200"/>
            <a:ext cx="502920" cy="27432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LLM-G-IDS Research · CESI LINEACT, Strasbourg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supervisor review ·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65760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Reframed 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4754880" cy="2286000"/>
          </a:xfrm>
          <a:prstGeom prst="roundRect">
            <a:avLst>
              <a:gd name="adj" fmla="val 3200"/>
            </a:avLst>
          </a:prstGeom>
          <a:solidFill>
            <a:srgbClr val="FBEEDA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pipeline detects intrusions — validated only on network traffic (UNSW-NB15, ToN-IoT).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40680" y="2267712"/>
            <a:ext cx="777240" cy="585216"/>
          </a:xfrm>
          <a:prstGeom prst="chevron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46520" y="1417320"/>
            <a:ext cx="4754880" cy="2286000"/>
          </a:xfrm>
          <a:prstGeom prst="roundRect">
            <a:avLst>
              <a:gd name="adj" fmla="val 3200"/>
            </a:avLst>
          </a:prstGeom>
          <a:solidFill>
            <a:srgbClr val="E9F0F3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2084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205740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GNN structure + LLM semantics + AGAF fusion + the feedback loop generalize across domains — network security becomes one example, not the goal.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4114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UNSW-NB15 succeeded, ToN-IoT did not replicate — consistent with a domain-specific ceiling on IDS, not a defect in the fusion mechanism itself.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LLM-G-IDS — Domain Generalization Study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65760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Criteria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1610441"/>
            <a:ext cx="272125" cy="272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4356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Graph-Structured Data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0160" y="179222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Nodes/edges carry real relational signal — not flattened tabular rows.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267712"/>
            <a:ext cx="10744200" cy="0"/>
          </a:xfrm>
          <a:prstGeom prst="line">
            <a:avLst/>
          </a:prstGeom>
          <a:noFill/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23774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21" y="252484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3500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Dual-Branch Features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80160" y="270662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Meaningfully textual/semantic signal alongside separate structural features.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3182112"/>
            <a:ext cx="10744200" cy="0"/>
          </a:xfrm>
          <a:prstGeom prst="line">
            <a:avLst/>
          </a:prstGeom>
          <a:noFill/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02920" y="32918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21" y="343924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2644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Classification Task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280160" y="362102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labels, not an open-ended exploratory task.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02920" y="4096512"/>
            <a:ext cx="10744200" cy="0"/>
          </a:xfrm>
          <a:prstGeom prst="line">
            <a:avLst/>
          </a:prstGeom>
          <a:noFill/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02920" y="4206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21" y="4353641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41788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Availability at Scale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280160" y="453542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scale for training and evaluation, openly accessible.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02920" y="5010912"/>
            <a:ext cx="10744200" cy="0"/>
          </a:xfrm>
          <a:prstGeom prst="line">
            <a:avLst/>
          </a:prstGeom>
          <a:noFill/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502920" y="51206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21" y="5268041"/>
            <a:ext cx="272125" cy="2721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80160" y="50932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Adds Value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1280160" y="544982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evidence relational signal beats node/text features alone.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LLM-G-IDS — Domain Generalization Study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65760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Candidates Screened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4279392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platforms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TwiBot-22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classification: bot vs. human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~1M users, 88.2M tweets, 170.2M edges, 14 relations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network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ogbn-arxiv / tape-arxiv23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subject-area classification, 40 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169,343 nodes, 1.17M edges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/ social fraud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YelpChi &amp; Amazon Fraud Graph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Fraudulent review/reviewer classification, binary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45,954 &amp; 11,944 nodes, 3 relation types each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Biomedical knowledge graph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PrimeKG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Drug-disease edge classification (indication / contraindication / off-label)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129,375 nodes, 4,050,249 relationships, ~30 relation types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Molecular / drug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TDC TWOSIDES (+ DrugBank text)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Drug-drug interaction side-effect classification, multi-class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645 drugs, 4,649,441 interaction records (multi-label)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LLM-G-IDS — Domain Generalization Study</a:t>
            </a:r>
            <a:endParaRPr lang="en-US" sz="900" dirty="0"/>
          </a:p>
        </p:txBody>
      </p:sp>
      <p:sp>
        <p:nvSpPr>
          <p:cNvPr id="3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96" y="555224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9260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·  TwiBot-22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7160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PLATFORMS — BOT DETECTION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node classification — bot vs. human account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27157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299008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 users · 88.2M tweets · 170.2M edges · 14 relation types across 4 entity types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40142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4288536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twibot22.github.io · arXiv:2206.04564 (NeurIPS 2022)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1417320"/>
            <a:ext cx="6903720" cy="2148840"/>
          </a:xfrm>
          <a:prstGeom prst="roundRect">
            <a:avLst>
              <a:gd name="adj" fmla="val 3404"/>
            </a:avLst>
          </a:prstGeom>
          <a:solidFill>
            <a:srgbClr val="E9F0F3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36008" y="1618488"/>
            <a:ext cx="6355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36008" y="1947672"/>
            <a:ext cx="63185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networks form coordinated clusters and amplification chains that surface in the follow/mention/retweet graph before they surface in any single profile. Tweets and bios feed the LLM branch; topology feeds the GNN branch. TwiBot-22's own benchmarks show graph-based methods beating feature-only baselines.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6903720" cy="1920240"/>
          </a:xfrm>
          <a:prstGeom prst="roundRect">
            <a:avLst>
              <a:gd name="adj" fmla="val 3810"/>
            </a:avLst>
          </a:prstGeom>
          <a:solidFill>
            <a:srgbClr val="FBEEDA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36008" y="4023360"/>
            <a:ext cx="6355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87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636008" y="4352544"/>
            <a:ext cx="6318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gated (institutional email request); the snapshot is static under tightened API policy. GNN+LLM fusion for bot detection is an already-active sub-literature, so novelty must rest on the AGAF + feedback-loop mechanism specifically.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LLM-G-IDS — Domain Generalization Study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96" y="555224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9260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·  ogbn-arxiv / tape-arxiv23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7160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NETWORK — PAPER CLASSIFICATION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40-way node classification — arXiv CS subject area of each paper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27157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299008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169,343 nodes · 1.17M citation edges · native title+abstract text. tape-arxiv23 companion: 46,198 papers, 2023-onward (LLM-cutoff-safe)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40142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4288536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Graph Benchmark · TAPE, arXiv:2305.19523 (ICLR 2024)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1417320"/>
            <a:ext cx="6903720" cy="2148840"/>
          </a:xfrm>
          <a:prstGeom prst="roundRect">
            <a:avLst>
              <a:gd name="adj" fmla="val 3404"/>
            </a:avLst>
          </a:prstGeom>
          <a:solidFill>
            <a:srgbClr val="E9F0F3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36008" y="1618488"/>
            <a:ext cx="6355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36008" y="1947672"/>
            <a:ext cx="63185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is structural signal in the purest sense. TAPE holds the GNN backbone (RevGAT) fixed and only adds LLM-explanation features — accuracy moves from 70.8% to 77.50%, isolating the fusion contribution as cleanly as any result in this shortlist.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6903720" cy="1920240"/>
          </a:xfrm>
          <a:prstGeom prst="roundRect">
            <a:avLst>
              <a:gd name="adj" fmla="val 3810"/>
            </a:avLst>
          </a:prstGeom>
          <a:solidFill>
            <a:srgbClr val="FBEEDA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36008" y="4023360"/>
            <a:ext cx="6355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87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636008" y="4352544"/>
            <a:ext cx="6318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heavily benchmarked corner of the GNN-LLM literature (TAPE, GLEM, GIANT already report here) — the novelty case must rest on AGAF plus iterative refinement specifically, not on the pairing of modalities.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LLM-G-IDS — Domain Generalization Study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96" y="555224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9260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·  YelpChi &amp; Amazon Fraud Graph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7160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/ SOCIAL — FRAUD DETECTION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— fraudulent review (YelpChi) or reviewer (Amazon)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27157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299008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YelpChi: 45,954 nodes, 14.5% fraud rate. Amazon: 11,944 nodes, 9.5% fraud rate. 3 relation types each.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40142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4288536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Rayana &amp; Akoglu, KDD 2015 · DGL FraudDataset · CARE-GNN, arXiv:2008.08692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1417320"/>
            <a:ext cx="6903720" cy="2148840"/>
          </a:xfrm>
          <a:prstGeom prst="roundRect">
            <a:avLst>
              <a:gd name="adj" fmla="val 3404"/>
            </a:avLst>
          </a:prstGeom>
          <a:solidFill>
            <a:srgbClr val="E9F0F3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36008" y="1618488"/>
            <a:ext cx="6355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36008" y="1947672"/>
            <a:ext cx="63185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deliberately camouflage review text and ratings to look normal — the giveaway is relational (repeated pairings, rating-timing coincidence). This is the textbook case where structure is necessary, not merely additive.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6903720" cy="1920240"/>
          </a:xfrm>
          <a:prstGeom prst="roundRect">
            <a:avLst>
              <a:gd name="adj" fmla="val 3810"/>
            </a:avLst>
          </a:prstGeom>
          <a:solidFill>
            <a:srgbClr val="FBEEDA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36008" y="4023360"/>
            <a:ext cx="6355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87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636008" y="4352544"/>
            <a:ext cx="6318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packaging ships handcrafted numeric features, not raw text — a genuine LLM branch needs rejoining the original review text. Both graphs are small, limiting headroom for many refinement cycles.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LLM-G-IDS — Domain Generalization Study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96" y="555224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9260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·  PrimeKG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7160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KNOWLEDGE GRAPH — DRUG–DISEASE RELATIONS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edge classification — indication vs. contraindication vs. off-label use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27157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299008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129,375 nodes · 4,050,249 relationships · 10 node types · ~30 relation types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40142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4288536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github.com/mims-harvard/PrimeKG · Chandak, Huang &amp; Zitnik, Scientific Data 2023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1417320"/>
            <a:ext cx="6903720" cy="2148840"/>
          </a:xfrm>
          <a:prstGeom prst="roundRect">
            <a:avLst>
              <a:gd name="adj" fmla="val 3404"/>
            </a:avLst>
          </a:prstGeom>
          <a:solidFill>
            <a:srgbClr val="E9F0F3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36008" y="1618488"/>
            <a:ext cx="6355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36008" y="1947672"/>
            <a:ext cx="63185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graph in the literal sense — clinical text descriptions ship natively alongside typed relational structure. TxGNN improved zero-shot indication/contraindication prediction by 49%/35% over non-graph baselines precisely because graph position carries information text alone doesn't.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6903720" cy="1920240"/>
          </a:xfrm>
          <a:prstGeom prst="roundRect">
            <a:avLst>
              <a:gd name="adj" fmla="val 3810"/>
            </a:avLst>
          </a:prstGeom>
          <a:solidFill>
            <a:srgbClr val="FBEEDA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36008" y="4023360"/>
            <a:ext cx="6355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87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636008" y="4352544"/>
            <a:ext cx="6318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framing is link prediction, not an off-the-shelf classification split — the task must be defined manually. Also the most “IDS-adjacent” domain in spirit, giving the least distance from the original security framing.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LLM-G-IDS — Domain Generalization Study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96" y="555224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9260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·  TDC TWOSIDES (+ DrugBank text)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7160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/ DRUG — DRUG–DRUG INTERACTION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/ multi-label classification — side effect(s) from a drug pair's interaction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27157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2990088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645 drugs · 4,649,441 drug-pair–side-effect records (multi-label)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40142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4288536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Therapeutics Data Commons · arXiv:2102.09548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1417320"/>
            <a:ext cx="6903720" cy="2148840"/>
          </a:xfrm>
          <a:prstGeom prst="roundRect">
            <a:avLst>
              <a:gd name="adj" fmla="val 3404"/>
            </a:avLst>
          </a:prstGeom>
          <a:solidFill>
            <a:srgbClr val="E9F0F3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36008" y="1618488"/>
            <a:ext cx="6355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36008" y="1947672"/>
            <a:ext cx="63185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graph (SMILES) is the GNN branch; DrugBank mechanism-of-action text is the LLM branch — already tied to KGNN (IJCAI 2020) in our own corpus. Interaction outcomes are relational by construction: the joint structure of two molecules, not either drug alone.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6903720" cy="1920240"/>
          </a:xfrm>
          <a:prstGeom prst="roundRect">
            <a:avLst>
              <a:gd name="adj" fmla="val 3810"/>
            </a:avLst>
          </a:prstGeom>
          <a:solidFill>
            <a:srgbClr val="FBEEDA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36008" y="4023360"/>
            <a:ext cx="6355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87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636008" y="4352544"/>
            <a:ext cx="6318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is compact notation, not natural language — a genuine semantic branch needs DrugBank free text assembled separately. The label space is long-tailed; expect to filter or bucket rare interaction types.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LLM-G-IDS — Domain Generalization Study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822960"/>
            <a:ext cx="653796" cy="208026"/>
          </a:xfrm>
          <a:prstGeom prst="line">
            <a:avLst/>
          </a:prstGeom>
          <a:noFill/>
          <a:ln w="15875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822960"/>
            <a:ext cx="297180" cy="683514"/>
          </a:xfrm>
          <a:prstGeom prst="line">
            <a:avLst/>
          </a:prstGeom>
          <a:noFill/>
          <a:ln w="15875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60836" y="1030986"/>
            <a:ext cx="416052" cy="356616"/>
          </a:xfrm>
          <a:prstGeom prst="line">
            <a:avLst/>
          </a:prstGeom>
          <a:noFill/>
          <a:ln w="15875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V="1">
            <a:off x="10607040" y="496062"/>
            <a:ext cx="564642" cy="326898"/>
          </a:xfrm>
          <a:prstGeom prst="line">
            <a:avLst/>
          </a:prstGeom>
          <a:noFill/>
          <a:ln w="15875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71682" y="496062"/>
            <a:ext cx="683514" cy="267462"/>
          </a:xfrm>
          <a:prstGeom prst="line">
            <a:avLst/>
          </a:prstGeom>
          <a:noFill/>
          <a:ln w="15875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11260836" y="763524"/>
            <a:ext cx="594360" cy="267462"/>
          </a:xfrm>
          <a:prstGeom prst="line">
            <a:avLst/>
          </a:prstGeom>
          <a:noFill/>
          <a:ln w="15875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10190988" y="822960"/>
            <a:ext cx="416052" cy="356616"/>
          </a:xfrm>
          <a:prstGeom prst="line">
            <a:avLst/>
          </a:prstGeom>
          <a:noFill/>
          <a:ln w="15875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524744" y="740664"/>
            <a:ext cx="164592" cy="164592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205972" y="976122"/>
            <a:ext cx="109728" cy="109728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849356" y="1451610"/>
            <a:ext cx="109728" cy="109728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622024" y="1332738"/>
            <a:ext cx="109728" cy="109728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16818" y="441198"/>
            <a:ext cx="109728" cy="109728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800332" y="708660"/>
            <a:ext cx="109728" cy="109728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136124" y="1124712"/>
            <a:ext cx="109728" cy="109728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502920"/>
            <a:ext cx="621792" cy="62179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86" y="664586"/>
            <a:ext cx="298460" cy="2984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25880" y="5303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PRIMARY DATASET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258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ogbn-arxiv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502920" y="178308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23324A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77240" y="20116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70.8%  →  77.50%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777240" y="2880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RevGAT accuracy on ogbn-arxiv: structure alone → structure + LLM-explanation fusion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7724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· ICLR 2024 · arXiv:2305.19523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89320" y="1856232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263640" y="1709928"/>
            <a:ext cx="5440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engineering detour: native text + native graph ship together, no access gate, no custom task split.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989320" y="2697480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263640" y="2551176"/>
            <a:ext cx="5440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(169,343 nodes, 1.17M edges) fits a multi-cycle iterative refinement budget without becoming a compute project.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5989320" y="3538728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263640" y="3392424"/>
            <a:ext cx="5440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benchmarkable against TAPE, GLEM, and GIANT on the same dataset — AGAF's gain is measured against a documented baseline, not from zero.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LLM-G-IDS — Domain Generalization Study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65760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Path Forward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9F0F3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ogbn-arxiv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validation. Stand up AGAF + the feedback loop end-to-end; run the core ablation — GNN-only vs. LLM-only vs. parallel fusion vs. iterative refinement.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41648" y="3410712"/>
            <a:ext cx="292608" cy="402336"/>
          </a:xfrm>
          <a:prstGeom prst="chevron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5603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tape-arxiv23 + YelpChi/Amazon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3375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Stress-test. tape-arxiv23 removes LLM memorization as a confound; fraud graphs test whether AGAF reweights toward structure when semantics are camouflaged.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82128" y="3410712"/>
            <a:ext cx="292608" cy="402336"/>
          </a:xfrm>
          <a:prstGeom prst="chevron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83880" y="155448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58200" y="18288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582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58200" y="25603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PrimeKG / TWOSIDES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58200" y="33375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goal. Broadens the cross-domain claim (security → citation/social → biomedical) at a higher data-assembly cost.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LLM-G-IDS — Domain Generalization Study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394960"/>
            <a:ext cx="754380" cy="240030"/>
          </a:xfrm>
          <a:prstGeom prst="line">
            <a:avLst/>
          </a:prstGeom>
          <a:noFill/>
          <a:ln w="15875">
            <a:solidFill>
              <a:srgbClr val="1C729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" y="5394960"/>
            <a:ext cx="342900" cy="788670"/>
          </a:xfrm>
          <a:prstGeom prst="line">
            <a:avLst/>
          </a:prstGeom>
          <a:noFill/>
          <a:ln w="15875">
            <a:solidFill>
              <a:srgbClr val="1C729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51660" y="5634990"/>
            <a:ext cx="480060" cy="411480"/>
          </a:xfrm>
          <a:prstGeom prst="line">
            <a:avLst/>
          </a:prstGeom>
          <a:noFill/>
          <a:ln w="15875">
            <a:solidFill>
              <a:srgbClr val="1C729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V="1">
            <a:off x="1097280" y="5017770"/>
            <a:ext cx="651510" cy="377190"/>
          </a:xfrm>
          <a:prstGeom prst="line">
            <a:avLst/>
          </a:prstGeom>
          <a:noFill/>
          <a:ln w="15875">
            <a:solidFill>
              <a:srgbClr val="1C729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48790" y="5017770"/>
            <a:ext cx="788670" cy="308610"/>
          </a:xfrm>
          <a:prstGeom prst="line">
            <a:avLst/>
          </a:prstGeom>
          <a:noFill/>
          <a:ln w="15875">
            <a:solidFill>
              <a:srgbClr val="1C729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1851660" y="5326380"/>
            <a:ext cx="685800" cy="308610"/>
          </a:xfrm>
          <a:prstGeom prst="line">
            <a:avLst/>
          </a:prstGeom>
          <a:noFill/>
          <a:ln w="15875">
            <a:solidFill>
              <a:srgbClr val="1C729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617220" y="5394960"/>
            <a:ext cx="480060" cy="411480"/>
          </a:xfrm>
          <a:prstGeom prst="line">
            <a:avLst/>
          </a:prstGeom>
          <a:noFill/>
          <a:ln w="15875">
            <a:solidFill>
              <a:srgbClr val="1C729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14984" y="5312664"/>
            <a:ext cx="164592" cy="164592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96796" y="5580126"/>
            <a:ext cx="109728" cy="10972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85316" y="6128766"/>
            <a:ext cx="109728" cy="10972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76856" y="5991606"/>
            <a:ext cx="109728" cy="10972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93926" y="4962906"/>
            <a:ext cx="109728" cy="10972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82596" y="5271516"/>
            <a:ext cx="109728" cy="10972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2356" y="5751576"/>
            <a:ext cx="109728" cy="109728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45720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86" y="618866"/>
            <a:ext cx="298460" cy="2984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716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Discussion</a:t>
            </a:r>
            <a:endParaRPr lang="en-US" sz="3200" dirty="0"/>
          </a:p>
        </p:txBody>
      </p:sp>
      <p:sp>
        <p:nvSpPr>
          <p:cNvPr id="19" name="Shape 16"/>
          <p:cNvSpPr/>
          <p:nvPr/>
        </p:nvSpPr>
        <p:spPr>
          <a:xfrm>
            <a:off x="1371600" y="1773936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691640" y="1618488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ogbn-arxiv as the primary validation domain for AGAF + the feedback loop.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371600" y="2551176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691640" y="2395728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scope/time for a second domain — tape-arxiv23 and/or YelpChi/Amazon.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371600" y="3328416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691640" y="3172968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PrimeKG and TWOSIDES as stretch goals: worth the added data-assembly cost?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371600" y="4105656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691640" y="3950208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enrichment (MITRE-style): carry the concept into non-security domains, or drop it?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7160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LLM-G-IDS — Domain Generalization Study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C6BD922-243E-0F47-923F-2BEC3B46356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f596af5-c0e2-4e07-b163-f19bb67c7ce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1354</Words>
  <Application>Microsoft Macintosh PowerPoint</Application>
  <PresentationFormat>Widescreen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 Alzein</cp:lastModifiedBy>
  <cp:revision>2</cp:revision>
  <dcterms:created xsi:type="dcterms:W3CDTF">2026-07-21T13:55:59Z</dcterms:created>
  <dcterms:modified xsi:type="dcterms:W3CDTF">2026-07-28T23:05:36Z</dcterms:modified>
</cp:coreProperties>
</file>