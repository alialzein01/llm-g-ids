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7" r:id="rId7"/>
    <p:sldId id="293" r:id="rId8"/>
    <p:sldId id="279" r:id="rId9"/>
    <p:sldId id="302" r:id="rId10"/>
    <p:sldId id="299" r:id="rId11"/>
    <p:sldId id="301" r:id="rId12"/>
    <p:sldId id="289" r:id="rId13"/>
    <p:sldId id="290" r:id="rId14"/>
    <p:sldId id="269" r:id="rId15"/>
    <p:sldId id="270" r:id="rId16"/>
    <p:sldId id="29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25"/>
    <p:restoredTop sz="88726"/>
  </p:normalViewPr>
  <p:slideViewPr>
    <p:cSldViewPr snapToGrid="0" snapToObjects="1">
      <p:cViewPr>
        <p:scale>
          <a:sx n="122" d="100"/>
          <a:sy n="122" d="100"/>
        </p:scale>
        <p:origin x="19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504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GAT doesn’t treat all neighbors equally. It by weights who to trust more when updating a node’s representation.</a:t>
            </a:r>
          </a:p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CE treats all samples equally; focal loss re-weights CE so the model focuses on hard and rare examples — which is exactly what we need in IDS where attacks are a tiny fraction of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 LINEACT  ·  Lebanese University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8872" cy="2423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914400"/>
            <a:ext cx="53949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LLM-Enhanced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629400" y="914400"/>
            <a:ext cx="2240280" cy="2423160"/>
          </a:xfrm>
          <a:prstGeom prst="rect">
            <a:avLst/>
          </a:prstGeom>
          <a:solidFill>
            <a:srgbClr val="1B3054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29400" y="914400"/>
            <a:ext cx="22402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
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
</a:t>
            </a: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
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Parallel GNN + LLM Pipeline for IoT Network Attack Classification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407408"/>
            <a:ext cx="9144000" cy="731520"/>
          </a:xfrm>
          <a:prstGeom prst="rect">
            <a:avLst/>
          </a:prstGeom>
          <a:solidFill>
            <a:srgbClr val="1B3054"/>
          </a:solidFill>
          <a:ln w="12700">
            <a:solidFill>
              <a:srgbClr val="1B30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4439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Alzein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Fouad Al Tfaily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IoT Networks Under Attack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2062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networks connect billions of devices — sensors, cameras, industrial controllers, smart appliances.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devices exchange continuous network traffic and often have limited built-in security.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classify each communication flow as benign or one of 9 attack types.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types: DDoS, DoS, scanning, password, injection, XSS, ransomware, MITM, backdoor.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0" y="98755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37760" y="987552"/>
            <a:ext cx="109728" cy="120700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0" y="10972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46520" y="1078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Benign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331720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37760" y="2331720"/>
            <a:ext cx="109728" cy="1207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0" y="24414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807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NF-ToN-IoT  ·  NF-UNSW-NB15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675888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3675888"/>
            <a:ext cx="109728" cy="1207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378561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767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151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is on the flow, not the 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Intrusion Detection Has Evolved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93852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664208"/>
            <a:ext cx="1938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175564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known attack patterns. Fast but cannot detect new or modified attacks.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12848" y="2697480"/>
            <a:ext cx="237744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987552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987552"/>
            <a:ext cx="1938528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1155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1664208"/>
            <a:ext cx="1938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42032" y="2395728"/>
            <a:ext cx="175564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statistical patterns from labeled traffic. Treats each flow independently.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697480"/>
            <a:ext cx="237744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987552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987552"/>
            <a:ext cx="1938528" cy="1828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11155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26864" y="1664208"/>
            <a:ext cx="1938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18304" y="2395728"/>
            <a:ext cx="175564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patterns. Still treats traffic as flat sequences, misses topology.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65392" y="2697480"/>
            <a:ext cx="237744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03136" y="987552"/>
            <a:ext cx="1938528" cy="3520440"/>
          </a:xfrm>
          <a:prstGeom prst="rect">
            <a:avLst/>
          </a:prstGeom>
          <a:solidFill>
            <a:srgbClr val="0F1E35"/>
          </a:solidFill>
          <a:ln w="254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987552"/>
            <a:ext cx="1938528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11155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03136" y="1664208"/>
            <a:ext cx="1938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(GNN)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94576" y="2395728"/>
            <a:ext cx="1755648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full network. Detects relational, coordinated attacks like DDoS and scanning.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IDS is the current state of the art — and the foundation of our work.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Are Half-Blind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and LLMs have complementary strengths — and complementary gaps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776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7764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— Structural 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IP-to-IP communication topology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talks to whom and how often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attack fingerprints (DDoS hub, scanning star)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cybersecurity meaning of protocols/ports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attack patterns mean semantically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traffic behavior in natural language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7939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892040" y="960120"/>
            <a:ext cx="39776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2040" y="960120"/>
            <a:ext cx="3977640" cy="12801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104241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CySecBERT — Semantic 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5087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810512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meaning of traffic behavior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Protocol/port semantics (port 22 = SSH = remote access risk)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attack descriptions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9443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graph topology natively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IP communication patterns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coordinated structural attacks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Our Contribution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combine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 and cybersecurity semantics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intrusion detection?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04288"/>
            <a:ext cx="2651760" cy="1719072"/>
          </a:xfrm>
          <a:prstGeom prst="rect">
            <a:avLst/>
          </a:prstGeom>
          <a:solidFill>
            <a:srgbClr val="1B3054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239572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GNN-based IDS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2788920"/>
            <a:ext cx="24323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topology — no semantic knowledge of what attacks mean.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2304288"/>
            <a:ext cx="2651760" cy="1719072"/>
          </a:xfrm>
          <a:prstGeom prst="rect">
            <a:avLst/>
          </a:prstGeom>
          <a:solidFill>
            <a:srgbClr val="1B3054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82696" y="239572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KG for IDS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82696" y="2788920"/>
            <a:ext cx="24323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explanations after detection — cannot classify graph flows.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25896" y="2304288"/>
            <a:ext cx="2651760" cy="1719072"/>
          </a:xfrm>
          <a:prstGeom prst="rect">
            <a:avLst/>
          </a:prstGeom>
          <a:solidFill>
            <a:srgbClr val="1B3054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35624" y="239572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GNN + LLM papers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35624" y="2788920"/>
            <a:ext cx="243230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text exists on graph nodes. IP addresses have no natural text — a gap we fill with Step 2. (In papers’ methodologies, LLM have nothing to read)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2428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response: build the semantic text ourselves (Step 2) and fuse both views for edge-level attack classification.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</a:rPr>
              <a:t>Our Pipeline So Far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</a:rPr>
              <a:t>Steps 1–3 represent our current dual-encoder design; Step 4 introduces the planned feedback loop</a:t>
            </a:r>
          </a:p>
        </p:txBody>
      </p:sp>
      <p:sp>
        <p:nvSpPr>
          <p:cNvPr id="5" name="Shape 3"/>
          <p:cNvSpPr/>
          <p:nvPr/>
        </p:nvSpPr>
        <p:spPr>
          <a:xfrm>
            <a:off x="292100" y="990600"/>
            <a:ext cx="2044700" cy="379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100" y="990600"/>
            <a:ext cx="2044700" cy="46990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100" y="990600"/>
            <a:ext cx="204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1000" y="1536700"/>
            <a:ext cx="1866900" cy="825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24511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nodes + directed flow edges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083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centrality node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655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attack class edge labels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3800" y="990600"/>
            <a:ext cx="2044700" cy="379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3800" y="990600"/>
            <a:ext cx="2044700" cy="4699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3800" y="990600"/>
            <a:ext cx="204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62200" y="26289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52700" y="1536700"/>
            <a:ext cx="1866900" cy="825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Text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628900" y="24511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triple per edge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28900" y="29083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NL sentence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28900" y="33655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discretization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35500" y="990600"/>
            <a:ext cx="2044700" cy="379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35500" y="990600"/>
            <a:ext cx="2044700" cy="469900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35500" y="990600"/>
            <a:ext cx="204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24400" y="1536700"/>
            <a:ext cx="1866900" cy="825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800600" y="24511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structural path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9083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CySecBERT semantic path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365500"/>
            <a:ext cx="17907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AGAF fusion path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33900" y="26289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 on both datasets: NF-ToN-IoT and NF-UNSW-NB15</a:t>
            </a:r>
            <a:endParaRPr lang="en-US" sz="1100" dirty="0"/>
          </a:p>
        </p:txBody>
      </p:sp>
      <p:sp>
        <p:nvSpPr>
          <p:cNvPr id="101" name="Shape 4bg"/>
          <p:cNvSpPr>
            <a:spLocks noGrp="1"/>
          </p:cNvSpPr>
          <p:nvPr/>
        </p:nvSpPr>
        <p:spPr>
          <a:xfrm>
            <a:off x="6807200" y="990600"/>
            <a:ext cx="2044700" cy="37973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02" name="Shape 4hdr"/>
          <p:cNvSpPr>
            <a:spLocks noGrp="1"/>
          </p:cNvSpPr>
          <p:nvPr/>
        </p:nvSpPr>
        <p:spPr>
          <a:xfrm>
            <a:off x="6807200" y="990600"/>
            <a:ext cx="2044700" cy="4699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3" name="Text 4hdr"/>
          <p:cNvSpPr>
            <a:spLocks noGrp="1"/>
          </p:cNvSpPr>
          <p:nvPr/>
        </p:nvSpPr>
        <p:spPr>
          <a:xfrm>
            <a:off x="6807200" y="1003300"/>
            <a:ext cx="2044700" cy="4572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STEP 4</a:t>
            </a:r>
          </a:p>
        </p:txBody>
      </p:sp>
      <p:sp>
        <p:nvSpPr>
          <p:cNvPr id="104" name="Text 4name"/>
          <p:cNvSpPr>
            <a:spLocks noGrp="1"/>
          </p:cNvSpPr>
          <p:nvPr/>
        </p:nvSpPr>
        <p:spPr>
          <a:xfrm>
            <a:off x="6896100" y="1536700"/>
            <a:ext cx="1866900" cy="8255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300" b="1" dirty="0">
                <a:solidFill>
                  <a:srgbClr val="0F1E35"/>
                </a:solidFill>
                <a:latin typeface="Calibri" pitchFamily="34" charset="0"/>
              </a:rPr>
              <a:t>Bidirectional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0F1E35"/>
                </a:solidFill>
                <a:latin typeface="Calibri" pitchFamily="34" charset="0"/>
              </a:rPr>
              <a:t>Feedback Loop</a:t>
            </a:r>
          </a:p>
        </p:txBody>
      </p:sp>
      <p:sp>
        <p:nvSpPr>
          <p:cNvPr id="105" name="Text 4b1"/>
          <p:cNvSpPr>
            <a:spLocks noGrp="1"/>
          </p:cNvSpPr>
          <p:nvPr/>
        </p:nvSpPr>
        <p:spPr>
          <a:xfrm>
            <a:off x="6972300" y="2451100"/>
            <a:ext cx="1790700" cy="45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GNN flags high-entropy flows to LLM</a:t>
            </a:r>
          </a:p>
        </p:txBody>
      </p:sp>
      <p:sp>
        <p:nvSpPr>
          <p:cNvPr id="106" name="Text 4b2"/>
          <p:cNvSpPr>
            <a:spLocks noGrp="1"/>
          </p:cNvSpPr>
          <p:nvPr/>
        </p:nvSpPr>
        <p:spPr>
          <a:xfrm>
            <a:off x="6972300" y="2959100"/>
            <a:ext cx="1790700" cy="45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LLM score re-weights GAT attention edges</a:t>
            </a:r>
          </a:p>
        </p:txBody>
      </p:sp>
      <p:sp>
        <p:nvSpPr>
          <p:cNvPr id="107" name="Text 4b3"/>
          <p:cNvSpPr>
            <a:spLocks noGrp="1"/>
          </p:cNvSpPr>
          <p:nvPr/>
        </p:nvSpPr>
        <p:spPr>
          <a:xfrm>
            <a:off x="6972300" y="3467100"/>
            <a:ext cx="1790700" cy="45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Iterates until convergence (Phase 2)</a:t>
            </a:r>
          </a:p>
        </p:txBody>
      </p:sp>
      <p:sp>
        <p:nvSpPr>
          <p:cNvPr id="109" name="Badge 4"/>
          <p:cNvSpPr>
            <a:spLocks noGrp="1"/>
          </p:cNvSpPr>
          <p:nvPr/>
        </p:nvSpPr>
        <p:spPr>
          <a:xfrm>
            <a:off x="7061200" y="4178300"/>
            <a:ext cx="1536700" cy="355600"/>
          </a:xfrm>
          <a:prstGeom prst="roundRect">
            <a:avLst>
              <a:gd name="adj" fmla="val 20000"/>
            </a:avLst>
          </a:prstGeom>
          <a:solidFill>
            <a:srgbClr val="E8F0FB"/>
          </a:solidFill>
          <a:ln w="9525">
            <a:solidFill>
              <a:srgbClr val="3B5998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000" b="1" dirty="0">
                <a:solidFill>
                  <a:srgbClr val="3B5998"/>
                </a:solidFill>
                <a:latin typeface="Calibri" pitchFamily="34" charset="0"/>
              </a:rPr>
              <a:t>Planned: Phase 2</a:t>
            </a:r>
          </a:p>
        </p:txBody>
      </p:sp>
      <p:sp>
        <p:nvSpPr>
          <p:cNvPr id="108" name="Arrow 3"/>
          <p:cNvSpPr>
            <a:spLocks noGrp="1"/>
          </p:cNvSpPr>
          <p:nvPr/>
        </p:nvSpPr>
        <p:spPr>
          <a:xfrm>
            <a:off x="6705600" y="2628900"/>
            <a:ext cx="19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7422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Communication Graph Construction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</a:rPr>
              <a:t>We model the network as a map: each device is a dot, and each connection between devices is an arrow. This lets us spot suspicious patterns in who talks to whom.</a:t>
            </a:r>
          </a:p>
        </p:txBody>
      </p:sp>
      <p:sp>
        <p:nvSpPr>
          <p:cNvPr id="5" name="Text 3"/>
          <p:cNvSpPr/>
          <p:nvPr/>
        </p:nvSpPr>
        <p:spPr>
          <a:xfrm>
            <a:off x="411480" y="1066722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IP address </a:t>
            </a: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aggregated communication </a:t>
            </a: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directed edge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by: (source IP, destination IP, attack label)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907792"/>
            <a:ext cx="4160520" cy="457200"/>
          </a:xfrm>
          <a:prstGeom prst="rect">
            <a:avLst/>
          </a:prstGeom>
          <a:solidFill>
            <a:srgbClr val="E0F9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93522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flow_count, total_bytes, avg_duration  (Z-score normalized)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438144"/>
            <a:ext cx="41605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4655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most_common_protocol, most_common_port  (categorical)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968496"/>
            <a:ext cx="4160520" cy="512064"/>
          </a:xfrm>
          <a:prstGeom prst="rect">
            <a:avLst/>
          </a:prstGeom>
          <a:solidFill>
            <a:srgbClr val="DBEAFE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edge classification — the attack label belongs to the flow, not the 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987552"/>
            <a:ext cx="3931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987552"/>
            <a:ext cx="109728" cy="18745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1115568"/>
            <a:ext cx="1536192" cy="31089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11155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1155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NF-ToN-IoT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1,501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74920" y="19933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2,127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892040" y="3017520"/>
            <a:ext cx="3931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3017520"/>
            <a:ext cx="109728" cy="187452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0" y="3145536"/>
            <a:ext cx="1536192" cy="31089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3145536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14553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NF-UNSW-NB15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35661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49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074920" y="40233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656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074920" y="4480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graph — success here comes from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class balance, not graph size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2B0453-832C-C4DC-5A0C-44DAD3B9EFFE}"/>
              </a:ext>
            </a:extLst>
          </p:cNvPr>
          <p:cNvSpPr txBox="1"/>
          <p:nvPr/>
        </p:nvSpPr>
        <p:spPr>
          <a:xfrm>
            <a:off x="338328" y="2511474"/>
            <a:ext cx="1668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attributes: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05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Label-Free Semantic Text Construction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graph edge → one natural language sentence for CySecBERT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468880" cy="13716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flow_count: 4,200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avg_bytes: 18,500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avg_duration: 0.002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1300" y="1574800"/>
            <a:ext cx="279400" cy="20320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68600" y="1524000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00B4D8"/>
              </a:solidFill>
              <a:latin typeface="Calibri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08960" y="96012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08960" y="960120"/>
            <a:ext cx="2468880" cy="1371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KG-Style Row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(discretized)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57276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flow_count: high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avg_bytes: high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avg_duration: 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13400" y="1574800"/>
            <a:ext cx="279400" cy="20320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00700" y="1524000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b="1" dirty="0">
              <a:solidFill>
                <a:srgbClr val="00B4D8"/>
              </a:solidFill>
              <a:latin typeface="Calibri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0" y="96012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960120"/>
            <a:ext cx="2468880" cy="1371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1051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Sentence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(CySecBERT input)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1572768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"...high frequency, large payloads, low duration, over TCP, to port 22"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542032"/>
            <a:ext cx="8595360" cy="1170432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615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Design Decision: Label-Free Input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2962656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CySecBERT sees: </a:t>
            </a:r>
            <a:r>
              <a:rPr lang="en-US" sz="1200" i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"…high frequency, large payloads, over TCP, to port 443"</a:t>
            </a: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✓  valid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CySecBERT does NOT see: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DDoS traffic."</a:t>
            </a: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✗  label leakage — would invalidate the experiment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8595360" cy="713232"/>
          </a:xfrm>
          <a:prstGeom prst="rect">
            <a:avLst/>
          </a:prstGeom>
          <a:solidFill>
            <a:srgbClr val="E0F9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8587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KG file (not fed to LLM) uses semantic relations: </a:t>
            </a: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→ "launched ddos against"  ·  Scanning → "initiated scan against"  ·  Benign → "communicated with"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" y="46268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count = edge count. Both datasets passed label-leakage validation.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8740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3A — GNN Structural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</a:rPr>
              <a:t>A graph-aware neural network that learns to flag suspicious connections by studying the shape and flow of traffic — not just what individual packets say.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09728" cy="120700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</a:rPr>
              <a:t>FedGATSage-inspired GATv2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4992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</a:rPr>
              <a:t>We keep GATv2 as the graph-attention layer but use three specialized branches inspired by FedGATSage: temporal, content, and behavioral. Each branch learns attack-pattern-specific structure before the edge classifier combines them.</a:t>
            </a:r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Each edge: source emb. · dest. emb. · src-dst interaction · absolute difference · traffic attributes.</a:t>
            </a:r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322576"/>
            <a:ext cx="109728" cy="1207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4992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Cross-Entropy that down-weights easy examples and focuses training on hard, misclassified ones. Prevents the model from ignoring rare attack classes by always predicting Benign.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109728" cy="1207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730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4105656"/>
            <a:ext cx="4992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F1 score across all 10 classes equally. A model that misses ransomware entirely gets F1=0 for that class — this metric is honest about detection failures on rare attacks.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987552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987552"/>
            <a:ext cx="109728" cy="1810512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44768" y="11338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NF-ToN-IoT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148132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</a:rPr>
              <a:t>0.2627</a:t>
            </a:r>
          </a:p>
        </p:txBody>
      </p:sp>
      <p:sp>
        <p:nvSpPr>
          <p:cNvPr id="21" name="Text 19"/>
          <p:cNvSpPr/>
          <p:nvPr/>
        </p:nvSpPr>
        <p:spPr>
          <a:xfrm>
            <a:off x="6144768" y="213969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239572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Improves less on highly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imbalanced data</a:t>
            </a:r>
          </a:p>
        </p:txBody>
      </p:sp>
      <p:sp>
        <p:nvSpPr>
          <p:cNvPr id="23" name="Shape 21"/>
          <p:cNvSpPr/>
          <p:nvPr/>
        </p:nvSpPr>
        <p:spPr>
          <a:xfrm>
            <a:off x="5989320" y="2980944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89320" y="2980944"/>
            <a:ext cx="109728" cy="1810512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44768" y="312724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NF-UNSW-NB15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44768" y="34747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</a:rPr>
              <a:t>0.5519</a:t>
            </a:r>
          </a:p>
        </p:txBody>
      </p:sp>
      <p:sp>
        <p:nvSpPr>
          <p:cNvPr id="27" name="Text 25"/>
          <p:cNvSpPr/>
          <p:nvPr/>
        </p:nvSpPr>
        <p:spPr>
          <a:xfrm>
            <a:off x="6144768" y="413308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44768" y="43891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Stronger structural signal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+ better class balance</a:t>
            </a:r>
          </a:p>
        </p:txBody>
      </p:sp>
      <p:sp>
        <p:nvSpPr>
          <p:cNvPr id="29" name="Text 27"/>
          <p:cNvSpPr/>
          <p:nvPr/>
        </p:nvSpPr>
        <p:spPr>
          <a:xfrm>
            <a:off x="274320" y="483260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</a:rPr>
              <a:t>Embedding: [num_edges × 64] • 5-fold CV with shared stratified splits • Out-of-fold evaluation</a:t>
            </a:r>
          </a:p>
        </p:txBody>
      </p:sp>
    </p:spTree>
    <p:extLst>
      <p:ext uri="{BB962C8B-B14F-4D97-AF65-F5344CB8AC3E}">
        <p14:creationId xmlns:p14="http://schemas.microsoft.com/office/powerpoint/2010/main" val="183687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3B — CySecBERT Semantic Path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</a:rPr>
              <a:t>A cybersecurity-trained language model that reads plain-English descriptions of each connection and extracts the meaning — no attack labels needed during this step.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09728" cy="12070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60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CySecBERT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4992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A language model pre-trained on cybersecurity text. It reads each traffic description and converts it into a rich numerical fingerprint that captures its security meaning.</a:t>
            </a:r>
          </a:p>
        </p:txBody>
      </p:sp>
      <p:sp>
        <p:nvSpPr>
          <p:cNvPr id="9" name="Shape 7"/>
          <p:cNvSpPr/>
          <p:nvPr/>
        </p:nvSpPr>
        <p:spPr>
          <a:xfrm>
            <a:off x="274320" y="2322576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322576"/>
            <a:ext cx="109728" cy="1207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4992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The language model’s internal weights are kept fixed. We use it purely as a reader, not a learner — retraining it on our small dataset would cause it to lose its general knowledge.</a:t>
            </a:r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109728" cy="1207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30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Input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4105656"/>
            <a:ext cx="4992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describe traffic behavior only — no attack names visible. Model learns to classify from behavioral signals, not by reading the answer.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987552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987552"/>
            <a:ext cx="109728" cy="18105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44768" y="11338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NF-ToN-IoT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148132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0.3979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44768" y="213969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239572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Stronger than GNN (0.3006)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2980944"/>
            <a:ext cx="28346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89320" y="2980944"/>
            <a:ext cx="109728" cy="18105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44768" y="312724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NF-UNSW-NB15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44768" y="347472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0.5165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144768" y="413308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44768" y="43891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GNN (0.5229)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[num_edges × 768]  ·  Same splits as GNN — row-aligned with graph edges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1314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3C — Adaptive Gated Attention Fusion (AGAF)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AGAF projects GNN [E×64] and LLM [E×768] embeddings into a shared 128-d space, then learns a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</a:rPr>
              <a:t>per-edge feature-wise gate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 that dynamically weights structural vs. semantic evidence. Fusion is validated only when it outperforms </a:t>
            </a:r>
            <a:r>
              <a:rPr lang="en-US" sz="1100" b="1" i="1" dirty="0">
                <a:solidFill>
                  <a:srgbClr val="1E293B"/>
                </a:solidFill>
                <a:latin typeface="Calibri" pitchFamily="34" charset="0"/>
              </a:rPr>
              <a:t>both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</a:rPr>
              <a:t> standalone baselines.</a:t>
            </a:r>
          </a:p>
        </p:txBody>
      </p:sp>
      <p:sp>
        <p:nvSpPr>
          <p:cNvPr id="5" name="Shape 3"/>
          <p:cNvSpPr/>
          <p:nvPr/>
        </p:nvSpPr>
        <p:spPr>
          <a:xfrm>
            <a:off x="349758" y="1371343"/>
            <a:ext cx="1783080" cy="530352"/>
          </a:xfrm>
          <a:prstGeom prst="rect">
            <a:avLst/>
          </a:prstGeom>
          <a:solidFill>
            <a:srgbClr val="E0F9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9758" y="1371343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 × 64]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9758" y="2201926"/>
            <a:ext cx="1783080" cy="530352"/>
          </a:xfrm>
          <a:prstGeom prst="rect">
            <a:avLst/>
          </a:prstGeom>
          <a:solidFill>
            <a:srgbClr val="EDE9FE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9758" y="220192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 × 768]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26730" y="1401064"/>
            <a:ext cx="779145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64842" y="2310130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35758" y="1371343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35758" y="1371343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128d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5758" y="2201926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35758" y="220192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128d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89654" y="147193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2514" y="231013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1610995"/>
            <a:ext cx="1600200" cy="105156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610995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</a:rPr>
              <a:t>GATE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</a:rPr>
              <a:t>(feature-wise,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</a:rPr>
              <a:t>per-edge)</a:t>
            </a:r>
          </a:p>
        </p:txBody>
      </p:sp>
      <p:sp>
        <p:nvSpPr>
          <p:cNvPr id="19" name="Text 17"/>
          <p:cNvSpPr/>
          <p:nvPr/>
        </p:nvSpPr>
        <p:spPr>
          <a:xfrm>
            <a:off x="6128766" y="1826641"/>
            <a:ext cx="548640" cy="501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1703577"/>
            <a:ext cx="1737360" cy="804672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1703577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 classes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2542" y="2704846"/>
            <a:ext cx="2322576" cy="384048"/>
          </a:xfrm>
          <a:prstGeom prst="rect">
            <a:avLst/>
          </a:prstGeom>
          <a:solidFill>
            <a:srgbClr val="E0F9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32270" y="273227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5"/>
                </a:solidFill>
                <a:latin typeface="Calibri" pitchFamily="34" charset="0"/>
              </a:rPr>
              <a:t>Gate learns per-class reliance</a:t>
            </a:r>
          </a:p>
        </p:txBody>
      </p:sp>
      <p:sp>
        <p:nvSpPr>
          <p:cNvPr id="24" name="Shape 22"/>
          <p:cNvSpPr/>
          <p:nvPr/>
        </p:nvSpPr>
        <p:spPr>
          <a:xfrm>
            <a:off x="6622542" y="3162046"/>
            <a:ext cx="2322576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32270" y="318947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</a:rPr>
              <a:t>UNSW: slight LLM lean overall</a:t>
            </a:r>
          </a:p>
        </p:txBody>
      </p:sp>
      <p:sp>
        <p:nvSpPr>
          <p:cNvPr id="26" name="Text 24"/>
          <p:cNvSpPr/>
          <p:nvPr/>
        </p:nvSpPr>
        <p:spPr>
          <a:xfrm>
            <a:off x="6622542" y="3619246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is interpretable: reveals which modality drove each prediction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9758" y="3143757"/>
            <a:ext cx="6053328" cy="420624"/>
          </a:xfrm>
          <a:prstGeom prst="rect">
            <a:avLst/>
          </a:prstGeom>
          <a:solidFill>
            <a:srgbClr val="E0F9F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9486" y="3171189"/>
            <a:ext cx="5833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E35"/>
                </a:solidFill>
                <a:latin typeface="Calibri" pitchFamily="34" charset="0"/>
              </a:rPr>
              <a:t>Fusion is strongest when it beats both standalone baselines; otherwise, we report the limitation directly.</a:t>
            </a: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808918"/>
              </p:ext>
            </p:extLst>
          </p:nvPr>
        </p:nvGraphicFramePr>
        <p:xfrm>
          <a:off x="349758" y="3692397"/>
          <a:ext cx="8595360" cy="141122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GNN Only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LLM Only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Fusion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NF-ToN-IoT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0.2627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0.3979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0.3211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Beats GNN, </a:t>
                      </a:r>
                      <a:r>
                        <a:rPr lang="en-US" sz="1100" dirty="0">
                          <a:solidFill>
                            <a:srgbClr val="FF0000"/>
                          </a:solidFill>
                          <a:latin typeface="Calibri" pitchFamily="34" charset="0"/>
                        </a:rPr>
                        <a:t>below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 LLM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NF-UNSW-NB15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0.5519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0.5165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0.6225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</a:rPr>
                        <a:t>Beats both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728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— Assigned by Supervisor: How They Shaped Our Work</a:t>
            </a:r>
            <a:endParaRPr lang="en-US" sz="2200" dirty="0"/>
          </a:p>
        </p:txBody>
      </p:sp>
      <p:graphicFrame>
        <p:nvGraphicFramePr>
          <p:cNvPr id="100" name="Papers Table"/>
          <p:cNvGraphicFramePr>
            <a:graphicFrameLocks noGrp="1"/>
          </p:cNvGraphicFramePr>
          <p:nvPr/>
        </p:nvGraphicFramePr>
        <p:xfrm>
          <a:off x="254000" y="711200"/>
          <a:ext cx="8636000" cy="419100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GNN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IDS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WHAT IT GAVE US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FedGATSage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IoT IDS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Our GNN backbone — direct lab predecessor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KLAGE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Cybersec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Inspired Step 2: KG built from network logs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KGNN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Typed edge labels help distinguish attack classes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GENI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Node importance is a learnable graph signal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LLMs for Cybersecurity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Survey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Justified frozen CySecBERT as safe extractor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974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— Found Independently: How They Shaped Our Work</a:t>
            </a:r>
            <a:endParaRPr lang="en-US" sz="2200" dirty="0"/>
          </a:p>
        </p:txBody>
      </p:sp>
      <p:graphicFrame>
        <p:nvGraphicFramePr>
          <p:cNvPr id="100" name="Pap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678169"/>
              </p:ext>
            </p:extLst>
          </p:nvPr>
        </p:nvGraphicFramePr>
        <p:xfrm>
          <a:off x="254000" y="711200"/>
          <a:ext cx="8636000" cy="419100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GNN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IDS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WHAT IT GAVE US</a:t>
                      </a:r>
                    </a:p>
                  </a:txBody>
                  <a:tcPr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GL-Fusion (to read if we need to enhance fusion)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Points beyond AGAF: deeper GNN-LLM fusion 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LOGIN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TAGs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It applies bidirectional feedback but on training time not at inference time too.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Graph Meets LLM — Survey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Survey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97706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Revealed gap: no GNN+LLM method for flow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EMT-IDNet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IDS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AGAF design: attention weights as explainability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/>
                        </a:rPr>
                        <a:t>GreaseLM / JointLK / GLEM / GLANCE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E293B"/>
                          </a:solidFill>
                          <a:latin typeface="Calibri"/>
                        </a:rPr>
                        <a:t>QA/KG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0369A1"/>
                          </a:solidFill>
                          <a:latin typeface="Calibri"/>
                        </a:rPr>
                        <a:t>GLANCE: selective LLM routing — our future direction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871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 — Two Datasets, Four Phases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87552"/>
          <a:ext cx="8595360" cy="307238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NF-ToN-IoT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NF-UNSW-NB15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Phase 1 — Graph Construction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✓ Passed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✓ Passed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Phase 2 — Knowledge Graph / Semantic Text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✓ Passed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✓ Passed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Phase 3 — GNN Baseline (GATv2)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0.3006 Macro-F1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0.5229 Macro-F1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Phase 3 — LLM Baseline (CySecBERT)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0.3979 Macro-F1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0.5165 Macro-F1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Phase 4 — Fusion (AGAF)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⚠ 0.3865 — below LLM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✓ 0.5705 — beats both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187952"/>
            <a:ext cx="8595360" cy="8229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224528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fusion succeed on UNSW-NB15 but not ToN-IoT?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UNSW-NB15 is smaller (49 nodes, 656 edges vs 1,501 / 2,127). </a:t>
            </a:r>
            <a:r>
              <a:rPr lang="en-US" sz="12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is class balance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UNSW-NB15 has ~47% Normal and ~40 edges per attack class. ToN-IoT has 82% Benign and 3 ransomware edges.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Fusion Falls Short on ToN-IoT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methodological — a research challenge, not a code bug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374904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09728" cy="21762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ToN-IoT Results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0.3865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984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CySecBERT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19842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0.3979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4597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24597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&gt; GNN  but  Fusion &lt; LLM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9392" y="987552"/>
            <a:ext cx="22402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79392" y="987552"/>
            <a:ext cx="109728" cy="1810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62272" y="1133856"/>
            <a:ext cx="1938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62272" y="1664208"/>
            <a:ext cx="19385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Benign, 3 ransomware edges. No model learns from 3 examples. Rare classes drag Macro-F1 to zero.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02552" y="987552"/>
            <a:ext cx="22402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02552" y="987552"/>
            <a:ext cx="109728" cy="18105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85432" y="1133856"/>
            <a:ext cx="1938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GNN Signal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85432" y="1664208"/>
            <a:ext cx="19385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alone = 0.30 vs LLM's 0.40. If structural embeddings are noisy, fusion degrades rather than improves.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79392" y="2980944"/>
            <a:ext cx="22402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79392" y="2980944"/>
            <a:ext cx="109728" cy="18105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62272" y="3127248"/>
            <a:ext cx="1938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Similar Classes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62272" y="3657600"/>
            <a:ext cx="19385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and DDoS both show high-volume traffic. Hard to separate with topology after aggregation.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02552" y="2980944"/>
            <a:ext cx="22402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02552" y="2980944"/>
            <a:ext cx="109728" cy="18105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85432" y="3127248"/>
            <a:ext cx="19385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Hides Timing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85432" y="3657600"/>
            <a:ext cx="19385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flows removes temporal patterns. Some attacks are defined by when they happen, not just who talks to whom.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Path Forward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206240" cy="1828800"/>
          </a:xfrm>
          <a:prstGeom prst="rect">
            <a:avLst/>
          </a:prstGeom>
          <a:solidFill>
            <a:srgbClr val="1B3054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0292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969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Fusion on ToN-IoT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389888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CCF"/>
                </a:solidFill>
                <a:latin typeface="Calibri" pitchFamily="34" charset="0"/>
              </a:rPr>
              <a:t>Investigate why the model relies too heavily on text descriptions for one dataset. Balance the contribution of both sources of evidence.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841248"/>
            <a:ext cx="4206240" cy="1828800"/>
          </a:xfrm>
          <a:prstGeom prst="rect">
            <a:avLst/>
          </a:prstGeom>
          <a:solidFill>
            <a:srgbClr val="1B3054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41248"/>
            <a:ext cx="50292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841248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6672" y="969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GNN Branch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6672" y="1389888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CCF"/>
                </a:solidFill>
                <a:latin typeface="Calibri" pitchFamily="34" charset="0"/>
              </a:rPr>
              <a:t>Improve how the network map reader works — richer device features, smarter topology patterns, deeper learning layers.</a:t>
            </a:r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4206240" cy="1828800"/>
          </a:xfrm>
          <a:prstGeom prst="rect">
            <a:avLst/>
          </a:prstGeom>
          <a:solidFill>
            <a:srgbClr val="1B3054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50292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852928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980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Imbalance Handling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401568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CCF"/>
                </a:solidFill>
                <a:latin typeface="Calibri" pitchFamily="34" charset="0"/>
              </a:rPr>
              <a:t>Rare attack types are underrepresented in training data. We will synthesize more examples of rare attacks so the model learns to recognize them reliably.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2852928"/>
            <a:ext cx="4206240" cy="1828800"/>
          </a:xfrm>
          <a:prstGeom prst="rect">
            <a:avLst/>
          </a:prstGeom>
          <a:solidFill>
            <a:srgbClr val="1B3054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852928"/>
            <a:ext cx="50292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852928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76672" y="2980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Feedback (Step 4)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6672" y="3401568"/>
            <a:ext cx="3474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CCF"/>
                </a:solidFill>
                <a:latin typeface="Calibri" pitchFamily="34" charset="0"/>
              </a:rPr>
              <a:t>When a connection is flagged as uncertain, pass it to the language model for a second opinion — then feed that verdict back to improve the next scan.</a:t>
            </a:r>
          </a:p>
        </p:txBody>
      </p:sp>
      <p:sp>
        <p:nvSpPr>
          <p:cNvPr id="24" name="Shape 2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E35"/>
                </a:solidFill>
                <a:latin typeface="Calibri" pitchFamily="34" charset="0"/>
              </a:rPr>
              <a:t>Pipeline validated end-to-end  ·  Fusion proven on UNSW-NB15  ·  ToN-IoT fusion is the active open challenge</a:t>
            </a:r>
          </a:p>
        </p:txBody>
      </p:sp>
    </p:spTree>
    <p:extLst>
      <p:ext uri="{BB962C8B-B14F-4D97-AF65-F5344CB8AC3E}">
        <p14:creationId xmlns:p14="http://schemas.microsoft.com/office/powerpoint/2010/main" val="1714063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B00A88-14E8-2444-B495-DE2E14956F5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56f463e-b6f4-43ce-a436-680b2b39805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D02F8A9-569C-EF43-8062-CC9F05B5165D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21348</TotalTime>
  <Words>2034</Words>
  <Application>Microsoft Macintosh PowerPoint</Application>
  <PresentationFormat>On-screen Show (16:9)</PresentationFormat>
  <Paragraphs>366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LLM-Enhanced Graph-Based Intrusion Detection</dc:title>
  <dc:subject>PptxGenJS Presentation</dc:subject>
  <dc:creator>Mohamad Salman Ali</dc:creator>
  <cp:lastModifiedBy>Ali Alzein</cp:lastModifiedBy>
  <cp:revision>9</cp:revision>
  <dcterms:created xsi:type="dcterms:W3CDTF">2026-06-06T17:38:37Z</dcterms:created>
  <dcterms:modified xsi:type="dcterms:W3CDTF">2026-06-21T15:03:28Z</dcterms:modified>
</cp:coreProperties>
</file>